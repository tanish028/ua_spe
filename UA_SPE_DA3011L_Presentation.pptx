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charts/chart3.xml" ContentType="application/vnd.openxmlformats-officedocument.drawingml.chart+xml"/>
  <Override PartName="/ppt/notesSlides/notesSlide11.xml" ContentType="application/vnd.openxmlformats-officedocument.presentationml.notesSlide+xml"/>
  <Override PartName="/ppt/charts/chart4.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51" d="100"/>
          <a:sy n="51" d="100"/>
        </p:scale>
        <p:origin x="869"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500" b="0" i="0" u="none" strike="noStrike">
                <a:solidFill>
                  <a:srgbClr val="1F2328"/>
                </a:solidFill>
                <a:latin typeface="Arial"/>
              </a:defRPr>
            </a:pPr>
            <a:r>
              <a:rPr lang="en-US" sz="1500" b="0" i="0" u="none" strike="noStrike">
                <a:solidFill>
                  <a:srgbClr val="1F2328"/>
                </a:solidFill>
                <a:latin typeface="Arial"/>
              </a:rPr>
              <a:t>Training split (170,235 rows)</a:t>
            </a:r>
          </a:p>
        </c:rich>
      </c:tx>
      <c:overlay val="0"/>
    </c:title>
    <c:autoTitleDeleted val="0"/>
    <c:plotArea>
      <c:layout/>
      <c:barChart>
        <c:barDir val="col"/>
        <c:grouping val="clustered"/>
        <c:varyColors val="0"/>
        <c:ser>
          <c:idx val="0"/>
          <c:order val="0"/>
          <c:tx>
            <c:strRef>
              <c:f>Sheet1!$B$1</c:f>
              <c:strCache>
                <c:ptCount val="1"/>
                <c:pt idx="0">
                  <c:v>Training rows</c:v>
                </c:pt>
              </c:strCache>
            </c:strRef>
          </c:tx>
          <c:spPr>
            <a:solidFill>
              <a:srgbClr val="1F3A5F"/>
            </a:solidFill>
            <a:effectLst/>
          </c:spPr>
          <c:invertIfNegative val="0"/>
          <c:dLbls>
            <c:numFmt formatCode="#,##0" sourceLinked="0"/>
            <c:spPr>
              <a:noFill/>
              <a:ln>
                <a:noFill/>
              </a:ln>
              <a:effectLst/>
            </c:spPr>
            <c:txPr>
              <a:bodyPr/>
              <a:lstStyle/>
              <a:p>
                <a:pPr>
                  <a:defRPr sz="1500" b="0" i="0" u="none" strike="noStrike">
                    <a:solidFill>
                      <a:srgbClr val="1F232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Genuine</c:v>
                </c:pt>
                <c:pt idx="1">
                  <c:v>Fraud</c:v>
                </c:pt>
              </c:strCache>
            </c:strRef>
          </c:cat>
          <c:val>
            <c:numRef>
              <c:f>Sheet1!$B$2:$B$3</c:f>
              <c:numCache>
                <c:formatCode>General</c:formatCode>
                <c:ptCount val="2"/>
                <c:pt idx="0">
                  <c:v>169951</c:v>
                </c:pt>
                <c:pt idx="1">
                  <c:v>284</c:v>
                </c:pt>
              </c:numCache>
            </c:numRef>
          </c:val>
          <c:extLst>
            <c:ext xmlns:c16="http://schemas.microsoft.com/office/drawing/2014/chart" uri="{C3380CC4-5D6E-409C-BE32-E72D297353CC}">
              <c16:uniqueId val="{00000000-5AFD-4C75-87E1-0A3F2370737E}"/>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9AA1AA"/>
            </a:solidFill>
            <a:prstDash val="solid"/>
            <a:round/>
          </a:ln>
        </c:spPr>
        <c:txPr>
          <a:bodyPr/>
          <a:lstStyle/>
          <a:p>
            <a:pPr>
              <a:defRPr sz="1600" b="0" i="0" u="none" strike="noStrike">
                <a:solidFill>
                  <a:srgbClr val="1F2328"/>
                </a:solidFill>
                <a:latin typeface="Arial"/>
              </a:defRPr>
            </a:pPr>
            <a:endParaRPr lang="en-US"/>
          </a:p>
        </c:txPr>
        <c:crossAx val="2094734552"/>
        <c:crosses val="autoZero"/>
        <c:auto val="1"/>
        <c:lblAlgn val="ctr"/>
        <c:lblOffset val="100"/>
        <c:noMultiLvlLbl val="1"/>
      </c:catAx>
      <c:valAx>
        <c:axId val="2094734552"/>
        <c:scaling>
          <c:orientation val="minMax"/>
          <c:max val="200000"/>
          <c:min val="0"/>
        </c:scaling>
        <c:delete val="0"/>
        <c:axPos val="l"/>
        <c:majorGridlines>
          <c:spPr>
            <a:ln w="9525" cap="flat">
              <a:solidFill>
                <a:srgbClr val="E3E6EA"/>
              </a:solidFill>
              <a:prstDash val="solid"/>
              <a:round/>
            </a:ln>
          </c:spPr>
        </c:majorGridlines>
        <c:numFmt formatCode="#,##0" sourceLinked="0"/>
        <c:majorTickMark val="out"/>
        <c:minorTickMark val="none"/>
        <c:tickLblPos val="nextTo"/>
        <c:spPr>
          <a:ln w="12700" cap="flat">
            <a:noFill/>
            <a:prstDash val="solid"/>
            <a:round/>
          </a:ln>
        </c:spPr>
        <c:txPr>
          <a:bodyPr/>
          <a:lstStyle/>
          <a:p>
            <a:pPr>
              <a:defRPr sz="1300" b="0" i="0" u="none" strike="noStrike">
                <a:solidFill>
                  <a:srgbClr val="1F2328"/>
                </a:solidFill>
                <a:latin typeface="Arial"/>
              </a:defRPr>
            </a:pPr>
            <a:endParaRPr lang="en-US"/>
          </a:p>
        </c:txPr>
        <c:crossAx val="2094734554"/>
        <c:crosses val="autoZero"/>
        <c:crossBetween val="between"/>
        <c:majorUnit val="50000"/>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500" b="0" i="0" u="none" strike="noStrike">
                <a:solidFill>
                  <a:srgbClr val="1F2328"/>
                </a:solidFill>
                <a:latin typeface="Arial"/>
              </a:defRPr>
            </a:pPr>
            <a:r>
              <a:rPr sz="1500" b="0" i="0" u="none" strike="noStrike">
                <a:solidFill>
                  <a:srgbClr val="1F2328"/>
                </a:solidFill>
                <a:latin typeface="Arial"/>
              </a:rPr>
              <a:t>Average Precision (mean of 5 seeds)</a:t>
            </a:r>
          </a:p>
        </c:rich>
      </c:tx>
      <c:overlay val="0"/>
    </c:title>
    <c:autoTitleDeleted val="0"/>
    <c:plotArea>
      <c:layout/>
      <c:barChart>
        <c:barDir val="bar"/>
        <c:grouping val="clustered"/>
        <c:varyColors val="0"/>
        <c:ser>
          <c:idx val="0"/>
          <c:order val="0"/>
          <c:tx>
            <c:strRef>
              <c:f>Sheet1!$B$1</c:f>
              <c:strCache>
                <c:ptCount val="1"/>
                <c:pt idx="0">
                  <c:v>AP</c:v>
                </c:pt>
              </c:strCache>
            </c:strRef>
          </c:tx>
          <c:spPr>
            <a:solidFill>
              <a:srgbClr val="9AA1AA"/>
            </a:solidFill>
            <a:effectLst/>
          </c:spPr>
          <c:invertIfNegative val="0"/>
          <c:dPt>
            <c:idx val="0"/>
            <c:invertIfNegative val="0"/>
            <c:bubble3D val="0"/>
            <c:extLst>
              <c:ext xmlns:c16="http://schemas.microsoft.com/office/drawing/2014/chart" uri="{C3380CC4-5D6E-409C-BE32-E72D297353CC}">
                <c16:uniqueId val="{00000001-58ED-43A4-865F-ED03037D93CA}"/>
              </c:ext>
            </c:extLst>
          </c:dPt>
          <c:dPt>
            <c:idx val="1"/>
            <c:invertIfNegative val="0"/>
            <c:bubble3D val="0"/>
            <c:extLst>
              <c:ext xmlns:c16="http://schemas.microsoft.com/office/drawing/2014/chart" uri="{C3380CC4-5D6E-409C-BE32-E72D297353CC}">
                <c16:uniqueId val="{00000003-58ED-43A4-865F-ED03037D93CA}"/>
              </c:ext>
            </c:extLst>
          </c:dPt>
          <c:dPt>
            <c:idx val="2"/>
            <c:invertIfNegative val="0"/>
            <c:bubble3D val="0"/>
            <c:extLst>
              <c:ext xmlns:c16="http://schemas.microsoft.com/office/drawing/2014/chart" uri="{C3380CC4-5D6E-409C-BE32-E72D297353CC}">
                <c16:uniqueId val="{00000005-58ED-43A4-865F-ED03037D93CA}"/>
              </c:ext>
            </c:extLst>
          </c:dPt>
          <c:dPt>
            <c:idx val="3"/>
            <c:invertIfNegative val="0"/>
            <c:bubble3D val="0"/>
            <c:extLst>
              <c:ext xmlns:c16="http://schemas.microsoft.com/office/drawing/2014/chart" uri="{C3380CC4-5D6E-409C-BE32-E72D297353CC}">
                <c16:uniqueId val="{00000007-58ED-43A4-865F-ED03037D93CA}"/>
              </c:ext>
            </c:extLst>
          </c:dPt>
          <c:dPt>
            <c:idx val="4"/>
            <c:invertIfNegative val="0"/>
            <c:bubble3D val="0"/>
            <c:extLst>
              <c:ext xmlns:c16="http://schemas.microsoft.com/office/drawing/2014/chart" uri="{C3380CC4-5D6E-409C-BE32-E72D297353CC}">
                <c16:uniqueId val="{00000009-58ED-43A4-865F-ED03037D93CA}"/>
              </c:ext>
            </c:extLst>
          </c:dPt>
          <c:dPt>
            <c:idx val="5"/>
            <c:invertIfNegative val="0"/>
            <c:bubble3D val="0"/>
            <c:extLst>
              <c:ext xmlns:c16="http://schemas.microsoft.com/office/drawing/2014/chart" uri="{C3380CC4-5D6E-409C-BE32-E72D297353CC}">
                <c16:uniqueId val="{0000000B-58ED-43A4-865F-ED03037D93CA}"/>
              </c:ext>
            </c:extLst>
          </c:dPt>
          <c:dPt>
            <c:idx val="6"/>
            <c:invertIfNegative val="0"/>
            <c:bubble3D val="0"/>
            <c:spPr>
              <a:solidFill>
                <a:srgbClr val="1F3A5F"/>
              </a:solidFill>
              <a:effectLst/>
            </c:spPr>
            <c:extLst>
              <c:ext xmlns:c16="http://schemas.microsoft.com/office/drawing/2014/chart" uri="{C3380CC4-5D6E-409C-BE32-E72D297353CC}">
                <c16:uniqueId val="{0000000D-58ED-43A4-865F-ED03037D93CA}"/>
              </c:ext>
            </c:extLst>
          </c:dPt>
          <c:dLbls>
            <c:numFmt formatCode="0.000" sourceLinked="0"/>
            <c:spPr>
              <a:noFill/>
              <a:ln>
                <a:noFill/>
              </a:ln>
              <a:effectLst/>
            </c:spPr>
            <c:txPr>
              <a:bodyPr/>
              <a:lstStyle/>
              <a:p>
                <a:pPr>
                  <a:defRPr sz="1300" b="0" i="0" u="none" strike="noStrike">
                    <a:solidFill>
                      <a:srgbClr val="1F232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RUS, 1 classifier</c:v>
                </c:pt>
                <c:pt idx="1">
                  <c:v>Plain training</c:v>
                </c:pt>
                <c:pt idx="2">
                  <c:v>Class-weighted</c:v>
                </c:pt>
                <c:pt idx="3">
                  <c:v>Random oversampling</c:v>
                </c:pt>
                <c:pt idx="4">
                  <c:v>SMOTE</c:v>
                </c:pt>
                <c:pt idx="5">
                  <c:v>RUS, 10 classifiers</c:v>
                </c:pt>
                <c:pt idx="6">
                  <c:v>SPE</c:v>
                </c:pt>
              </c:strCache>
            </c:strRef>
          </c:cat>
          <c:val>
            <c:numRef>
              <c:f>Sheet1!$B$2:$B$8</c:f>
              <c:numCache>
                <c:formatCode>General</c:formatCode>
                <c:ptCount val="7"/>
                <c:pt idx="0">
                  <c:v>0.55200000000000005</c:v>
                </c:pt>
                <c:pt idx="1">
                  <c:v>0.57999999999999996</c:v>
                </c:pt>
                <c:pt idx="2">
                  <c:v>0.67300000000000004</c:v>
                </c:pt>
                <c:pt idx="3">
                  <c:v>0.69799999999999995</c:v>
                </c:pt>
                <c:pt idx="4">
                  <c:v>0.71599999999999997</c:v>
                </c:pt>
                <c:pt idx="5">
                  <c:v>0.73499999999999999</c:v>
                </c:pt>
                <c:pt idx="6">
                  <c:v>0.84199999999999997</c:v>
                </c:pt>
              </c:numCache>
            </c:numRef>
          </c:val>
          <c:extLst>
            <c:ext xmlns:c16="http://schemas.microsoft.com/office/drawing/2014/chart" uri="{C3380CC4-5D6E-409C-BE32-E72D297353CC}">
              <c16:uniqueId val="{0000000E-58ED-43A4-865F-ED03037D93CA}"/>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9AA1AA"/>
            </a:solidFill>
            <a:prstDash val="solid"/>
            <a:round/>
          </a:ln>
        </c:spPr>
        <c:txPr>
          <a:bodyPr/>
          <a:lstStyle/>
          <a:p>
            <a:pPr>
              <a:defRPr sz="1400" b="0" i="0" u="none" strike="noStrike">
                <a:solidFill>
                  <a:srgbClr val="1F2328"/>
                </a:solidFill>
                <a:latin typeface="Arial"/>
              </a:defRPr>
            </a:pPr>
            <a:endParaRPr lang="en-US"/>
          </a:p>
        </c:txPr>
        <c:crossAx val="2094734552"/>
        <c:crosses val="autoZero"/>
        <c:auto val="1"/>
        <c:lblAlgn val="ctr"/>
        <c:lblOffset val="100"/>
        <c:noMultiLvlLbl val="1"/>
      </c:catAx>
      <c:valAx>
        <c:axId val="2094734552"/>
        <c:scaling>
          <c:orientation val="minMax"/>
          <c:max val="1"/>
          <c:min val="0"/>
        </c:scaling>
        <c:delete val="0"/>
        <c:axPos val="b"/>
        <c:majorGridlines>
          <c:spPr>
            <a:ln w="9525" cap="flat">
              <a:solidFill>
                <a:srgbClr val="E3E6EA"/>
              </a:solidFill>
              <a:prstDash val="solid"/>
              <a:round/>
            </a:ln>
          </c:spPr>
        </c:majorGridlines>
        <c:numFmt formatCode="0.0" sourceLinked="0"/>
        <c:majorTickMark val="out"/>
        <c:minorTickMark val="none"/>
        <c:tickLblPos val="low"/>
        <c:spPr>
          <a:ln w="12700" cap="flat">
            <a:noFill/>
            <a:prstDash val="solid"/>
            <a:round/>
          </a:ln>
        </c:spPr>
        <c:txPr>
          <a:bodyPr/>
          <a:lstStyle/>
          <a:p>
            <a:pPr>
              <a:defRPr sz="1300" b="0" i="0" u="none" strike="noStrike">
                <a:solidFill>
                  <a:srgbClr val="1F2328"/>
                </a:solidFill>
                <a:latin typeface="Arial"/>
              </a:defRPr>
            </a:pPr>
            <a:endParaRPr lang="en-US"/>
          </a:p>
        </c:txPr>
        <c:crossAx val="2094734554"/>
        <c:crosses val="autoZero"/>
        <c:crossBetween val="between"/>
        <c:majorUnit val="0.2"/>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500" b="0" i="0" u="none" strike="noStrike">
                <a:solidFill>
                  <a:srgbClr val="1F2328"/>
                </a:solidFill>
                <a:latin typeface="Arial"/>
              </a:defRPr>
            </a:pPr>
            <a:r>
              <a:rPr sz="1500" b="0" i="0" u="none" strike="noStrike">
                <a:solidFill>
                  <a:srgbClr val="1F2328"/>
                </a:solidFill>
                <a:latin typeface="Arial"/>
              </a:rPr>
              <a:t>AP per seed (grey) and mean (navy)</a:t>
            </a:r>
          </a:p>
        </c:rich>
      </c:tx>
      <c:overlay val="0"/>
    </c:title>
    <c:autoTitleDeleted val="0"/>
    <c:plotArea>
      <c:layout/>
      <c:lineChart>
        <c:grouping val="standard"/>
        <c:varyColors val="0"/>
        <c:ser>
          <c:idx val="0"/>
          <c:order val="0"/>
          <c:tx>
            <c:strRef>
              <c:f>Sheet1!$B$1</c:f>
              <c:strCache>
                <c:ptCount val="1"/>
                <c:pt idx="0">
                  <c:v>Seed 0</c:v>
                </c:pt>
              </c:strCache>
            </c:strRef>
          </c:tx>
          <c:spPr>
            <a:ln>
              <a:noFill/>
            </a:ln>
            <a:effectLst/>
          </c:spPr>
          <c:marker>
            <c:symbol val="circle"/>
            <c:size val="8"/>
            <c:spPr>
              <a:solidFill>
                <a:srgbClr val="B4BAC2"/>
              </a:solidFill>
              <a:ln w="9525" cap="flat">
                <a:solidFill>
                  <a:srgbClr val="B4BAC2"/>
                </a:solidFill>
                <a:prstDash val="solid"/>
                <a:round/>
              </a:ln>
              <a:effectLst/>
            </c:spPr>
          </c:marker>
          <c:cat>
            <c:strRef>
              <c:f>Sheet1!$A$2:$A$5</c:f>
              <c:strCache>
                <c:ptCount val="4"/>
                <c:pt idx="0">
                  <c:v>SPE (γ = 0)</c:v>
                </c:pt>
                <c:pt idx="1">
                  <c:v>γ = 1</c:v>
                </c:pt>
                <c:pt idx="2">
                  <c:v>γ = 2</c:v>
                </c:pt>
                <c:pt idx="3">
                  <c:v>γ = 4</c:v>
                </c:pt>
              </c:strCache>
            </c:strRef>
          </c:cat>
          <c:val>
            <c:numRef>
              <c:f>Sheet1!$B$2:$B$5</c:f>
              <c:numCache>
                <c:formatCode>General</c:formatCode>
                <c:ptCount val="4"/>
                <c:pt idx="0">
                  <c:v>0.8569</c:v>
                </c:pt>
                <c:pt idx="1">
                  <c:v>0.86619999999999997</c:v>
                </c:pt>
                <c:pt idx="2">
                  <c:v>0.84330000000000005</c:v>
                </c:pt>
                <c:pt idx="3">
                  <c:v>0.84789999999999999</c:v>
                </c:pt>
              </c:numCache>
            </c:numRef>
          </c:val>
          <c:smooth val="0"/>
          <c:extLst>
            <c:ext xmlns:c16="http://schemas.microsoft.com/office/drawing/2014/chart" uri="{C3380CC4-5D6E-409C-BE32-E72D297353CC}">
              <c16:uniqueId val="{00000000-91A6-4980-9470-56408FD17EFD}"/>
            </c:ext>
          </c:extLst>
        </c:ser>
        <c:ser>
          <c:idx val="1"/>
          <c:order val="1"/>
          <c:tx>
            <c:strRef>
              <c:f>Sheet1!$C$1</c:f>
              <c:strCache>
                <c:ptCount val="1"/>
                <c:pt idx="0">
                  <c:v>Seed 1</c:v>
                </c:pt>
              </c:strCache>
            </c:strRef>
          </c:tx>
          <c:spPr>
            <a:ln>
              <a:noFill/>
            </a:ln>
            <a:effectLst/>
          </c:spPr>
          <c:marker>
            <c:symbol val="circle"/>
            <c:size val="8"/>
            <c:spPr>
              <a:solidFill>
                <a:srgbClr val="B4BAC2"/>
              </a:solidFill>
              <a:ln w="9525" cap="flat">
                <a:solidFill>
                  <a:srgbClr val="B4BAC2"/>
                </a:solidFill>
                <a:prstDash val="solid"/>
                <a:round/>
              </a:ln>
              <a:effectLst/>
            </c:spPr>
          </c:marker>
          <c:cat>
            <c:strRef>
              <c:f>Sheet1!$A$2:$A$5</c:f>
              <c:strCache>
                <c:ptCount val="4"/>
                <c:pt idx="0">
                  <c:v>SPE (γ = 0)</c:v>
                </c:pt>
                <c:pt idx="1">
                  <c:v>γ = 1</c:v>
                </c:pt>
                <c:pt idx="2">
                  <c:v>γ = 2</c:v>
                </c:pt>
                <c:pt idx="3">
                  <c:v>γ = 4</c:v>
                </c:pt>
              </c:strCache>
            </c:strRef>
          </c:cat>
          <c:val>
            <c:numRef>
              <c:f>Sheet1!$C$2:$C$5</c:f>
              <c:numCache>
                <c:formatCode>General</c:formatCode>
                <c:ptCount val="4"/>
                <c:pt idx="0">
                  <c:v>0.82530000000000003</c:v>
                </c:pt>
                <c:pt idx="1">
                  <c:v>0.83299999999999996</c:v>
                </c:pt>
                <c:pt idx="2">
                  <c:v>0.8498</c:v>
                </c:pt>
                <c:pt idx="3">
                  <c:v>0.84740000000000004</c:v>
                </c:pt>
              </c:numCache>
            </c:numRef>
          </c:val>
          <c:smooth val="0"/>
          <c:extLst>
            <c:ext xmlns:c16="http://schemas.microsoft.com/office/drawing/2014/chart" uri="{C3380CC4-5D6E-409C-BE32-E72D297353CC}">
              <c16:uniqueId val="{00000001-91A6-4980-9470-56408FD17EFD}"/>
            </c:ext>
          </c:extLst>
        </c:ser>
        <c:ser>
          <c:idx val="2"/>
          <c:order val="2"/>
          <c:tx>
            <c:strRef>
              <c:f>Sheet1!$D$1</c:f>
              <c:strCache>
                <c:ptCount val="1"/>
                <c:pt idx="0">
                  <c:v>Seed 2</c:v>
                </c:pt>
              </c:strCache>
            </c:strRef>
          </c:tx>
          <c:spPr>
            <a:ln>
              <a:noFill/>
            </a:ln>
            <a:effectLst/>
          </c:spPr>
          <c:marker>
            <c:symbol val="circle"/>
            <c:size val="8"/>
            <c:spPr>
              <a:solidFill>
                <a:srgbClr val="B4BAC2"/>
              </a:solidFill>
              <a:ln w="9525" cap="flat">
                <a:solidFill>
                  <a:srgbClr val="B4BAC2"/>
                </a:solidFill>
                <a:prstDash val="solid"/>
                <a:round/>
              </a:ln>
              <a:effectLst/>
            </c:spPr>
          </c:marker>
          <c:cat>
            <c:strRef>
              <c:f>Sheet1!$A$2:$A$5</c:f>
              <c:strCache>
                <c:ptCount val="4"/>
                <c:pt idx="0">
                  <c:v>SPE (γ = 0)</c:v>
                </c:pt>
                <c:pt idx="1">
                  <c:v>γ = 1</c:v>
                </c:pt>
                <c:pt idx="2">
                  <c:v>γ = 2</c:v>
                </c:pt>
                <c:pt idx="3">
                  <c:v>γ = 4</c:v>
                </c:pt>
              </c:strCache>
            </c:strRef>
          </c:cat>
          <c:val>
            <c:numRef>
              <c:f>Sheet1!$D$2:$D$5</c:f>
              <c:numCache>
                <c:formatCode>General</c:formatCode>
                <c:ptCount val="4"/>
                <c:pt idx="0">
                  <c:v>0.83289999999999997</c:v>
                </c:pt>
                <c:pt idx="1">
                  <c:v>0.83169999999999999</c:v>
                </c:pt>
                <c:pt idx="2">
                  <c:v>0.85389999999999999</c:v>
                </c:pt>
                <c:pt idx="3">
                  <c:v>0.83399999999999996</c:v>
                </c:pt>
              </c:numCache>
            </c:numRef>
          </c:val>
          <c:smooth val="0"/>
          <c:extLst>
            <c:ext xmlns:c16="http://schemas.microsoft.com/office/drawing/2014/chart" uri="{C3380CC4-5D6E-409C-BE32-E72D297353CC}">
              <c16:uniqueId val="{00000002-91A6-4980-9470-56408FD17EFD}"/>
            </c:ext>
          </c:extLst>
        </c:ser>
        <c:ser>
          <c:idx val="3"/>
          <c:order val="3"/>
          <c:tx>
            <c:strRef>
              <c:f>Sheet1!$E$1</c:f>
              <c:strCache>
                <c:ptCount val="1"/>
                <c:pt idx="0">
                  <c:v>Seed 3</c:v>
                </c:pt>
              </c:strCache>
            </c:strRef>
          </c:tx>
          <c:spPr>
            <a:ln>
              <a:noFill/>
            </a:ln>
            <a:effectLst/>
          </c:spPr>
          <c:marker>
            <c:symbol val="circle"/>
            <c:size val="8"/>
            <c:spPr>
              <a:solidFill>
                <a:srgbClr val="B4BAC2"/>
              </a:solidFill>
              <a:ln w="9525" cap="flat">
                <a:solidFill>
                  <a:srgbClr val="B4BAC2"/>
                </a:solidFill>
                <a:prstDash val="solid"/>
                <a:round/>
              </a:ln>
              <a:effectLst/>
            </c:spPr>
          </c:marker>
          <c:cat>
            <c:strRef>
              <c:f>Sheet1!$A$2:$A$5</c:f>
              <c:strCache>
                <c:ptCount val="4"/>
                <c:pt idx="0">
                  <c:v>SPE (γ = 0)</c:v>
                </c:pt>
                <c:pt idx="1">
                  <c:v>γ = 1</c:v>
                </c:pt>
                <c:pt idx="2">
                  <c:v>γ = 2</c:v>
                </c:pt>
                <c:pt idx="3">
                  <c:v>γ = 4</c:v>
                </c:pt>
              </c:strCache>
            </c:strRef>
          </c:cat>
          <c:val>
            <c:numRef>
              <c:f>Sheet1!$E$2:$E$5</c:f>
              <c:numCache>
                <c:formatCode>General</c:formatCode>
                <c:ptCount val="4"/>
                <c:pt idx="0">
                  <c:v>0.85299999999999998</c:v>
                </c:pt>
                <c:pt idx="1">
                  <c:v>0.83889999999999998</c:v>
                </c:pt>
                <c:pt idx="2">
                  <c:v>0.84909999999999997</c:v>
                </c:pt>
                <c:pt idx="3">
                  <c:v>0.83589999999999998</c:v>
                </c:pt>
              </c:numCache>
            </c:numRef>
          </c:val>
          <c:smooth val="0"/>
          <c:extLst>
            <c:ext xmlns:c16="http://schemas.microsoft.com/office/drawing/2014/chart" uri="{C3380CC4-5D6E-409C-BE32-E72D297353CC}">
              <c16:uniqueId val="{00000003-91A6-4980-9470-56408FD17EFD}"/>
            </c:ext>
          </c:extLst>
        </c:ser>
        <c:ser>
          <c:idx val="4"/>
          <c:order val="4"/>
          <c:tx>
            <c:strRef>
              <c:f>Sheet1!$F$1</c:f>
              <c:strCache>
                <c:ptCount val="1"/>
                <c:pt idx="0">
                  <c:v>Seed 4</c:v>
                </c:pt>
              </c:strCache>
            </c:strRef>
          </c:tx>
          <c:spPr>
            <a:ln>
              <a:noFill/>
            </a:ln>
            <a:effectLst/>
          </c:spPr>
          <c:marker>
            <c:symbol val="circle"/>
            <c:size val="8"/>
            <c:spPr>
              <a:solidFill>
                <a:srgbClr val="B4BAC2"/>
              </a:solidFill>
              <a:ln w="9525" cap="flat">
                <a:solidFill>
                  <a:srgbClr val="B4BAC2"/>
                </a:solidFill>
                <a:prstDash val="solid"/>
                <a:round/>
              </a:ln>
              <a:effectLst/>
            </c:spPr>
          </c:marker>
          <c:cat>
            <c:strRef>
              <c:f>Sheet1!$A$2:$A$5</c:f>
              <c:strCache>
                <c:ptCount val="4"/>
                <c:pt idx="0">
                  <c:v>SPE (γ = 0)</c:v>
                </c:pt>
                <c:pt idx="1">
                  <c:v>γ = 1</c:v>
                </c:pt>
                <c:pt idx="2">
                  <c:v>γ = 2</c:v>
                </c:pt>
                <c:pt idx="3">
                  <c:v>γ = 4</c:v>
                </c:pt>
              </c:strCache>
            </c:strRef>
          </c:cat>
          <c:val>
            <c:numRef>
              <c:f>Sheet1!$F$2:$F$5</c:f>
              <c:numCache>
                <c:formatCode>General</c:formatCode>
                <c:ptCount val="4"/>
                <c:pt idx="0">
                  <c:v>0.84130000000000005</c:v>
                </c:pt>
                <c:pt idx="1">
                  <c:v>0.83679999999999999</c:v>
                </c:pt>
                <c:pt idx="2">
                  <c:v>0.84770000000000001</c:v>
                </c:pt>
                <c:pt idx="3">
                  <c:v>0.84030000000000005</c:v>
                </c:pt>
              </c:numCache>
            </c:numRef>
          </c:val>
          <c:smooth val="0"/>
          <c:extLst>
            <c:ext xmlns:c16="http://schemas.microsoft.com/office/drawing/2014/chart" uri="{C3380CC4-5D6E-409C-BE32-E72D297353CC}">
              <c16:uniqueId val="{00000004-91A6-4980-9470-56408FD17EFD}"/>
            </c:ext>
          </c:extLst>
        </c:ser>
        <c:ser>
          <c:idx val="5"/>
          <c:order val="5"/>
          <c:tx>
            <c:strRef>
              <c:f>Sheet1!$G$1</c:f>
              <c:strCache>
                <c:ptCount val="1"/>
                <c:pt idx="0">
                  <c:v>Mean</c:v>
                </c:pt>
              </c:strCache>
            </c:strRef>
          </c:tx>
          <c:spPr>
            <a:ln>
              <a:noFill/>
            </a:ln>
            <a:effectLst/>
          </c:spPr>
          <c:marker>
            <c:symbol val="circle"/>
            <c:size val="8"/>
            <c:spPr>
              <a:solidFill>
                <a:srgbClr val="1F3A5F"/>
              </a:solidFill>
              <a:ln w="9525" cap="flat">
                <a:solidFill>
                  <a:srgbClr val="1F3A5F"/>
                </a:solidFill>
                <a:prstDash val="solid"/>
                <a:round/>
              </a:ln>
              <a:effectLst/>
            </c:spPr>
          </c:marker>
          <c:cat>
            <c:strRef>
              <c:f>Sheet1!$A$2:$A$5</c:f>
              <c:strCache>
                <c:ptCount val="4"/>
                <c:pt idx="0">
                  <c:v>SPE (γ = 0)</c:v>
                </c:pt>
                <c:pt idx="1">
                  <c:v>γ = 1</c:v>
                </c:pt>
                <c:pt idx="2">
                  <c:v>γ = 2</c:v>
                </c:pt>
                <c:pt idx="3">
                  <c:v>γ = 4</c:v>
                </c:pt>
              </c:strCache>
            </c:strRef>
          </c:cat>
          <c:val>
            <c:numRef>
              <c:f>Sheet1!$G$2:$G$5</c:f>
              <c:numCache>
                <c:formatCode>General</c:formatCode>
                <c:ptCount val="4"/>
                <c:pt idx="0">
                  <c:v>0.84189999999999998</c:v>
                </c:pt>
                <c:pt idx="1">
                  <c:v>0.84130000000000005</c:v>
                </c:pt>
                <c:pt idx="2">
                  <c:v>0.8488</c:v>
                </c:pt>
                <c:pt idx="3">
                  <c:v>0.84109999999999996</c:v>
                </c:pt>
              </c:numCache>
            </c:numRef>
          </c:val>
          <c:smooth val="0"/>
          <c:extLst>
            <c:ext xmlns:c16="http://schemas.microsoft.com/office/drawing/2014/chart" uri="{C3380CC4-5D6E-409C-BE32-E72D297353CC}">
              <c16:uniqueId val="{00000005-91A6-4980-9470-56408FD17EFD}"/>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9AA1AA"/>
            </a:solidFill>
            <a:prstDash val="solid"/>
            <a:round/>
          </a:ln>
        </c:spPr>
        <c:txPr>
          <a:bodyPr/>
          <a:lstStyle/>
          <a:p>
            <a:pPr>
              <a:defRPr sz="1400" b="0" i="0" u="none" strike="noStrike">
                <a:solidFill>
                  <a:srgbClr val="1F2328"/>
                </a:solidFill>
                <a:latin typeface="Arial"/>
              </a:defRPr>
            </a:pPr>
            <a:endParaRPr lang="en-US"/>
          </a:p>
        </c:txPr>
        <c:crossAx val="2094734552"/>
        <c:crosses val="autoZero"/>
        <c:auto val="1"/>
        <c:lblAlgn val="ctr"/>
        <c:lblOffset val="100"/>
        <c:noMultiLvlLbl val="1"/>
      </c:catAx>
      <c:valAx>
        <c:axId val="2094734552"/>
        <c:scaling>
          <c:orientation val="minMax"/>
          <c:max val="0.87"/>
          <c:min val="0.82"/>
        </c:scaling>
        <c:delete val="0"/>
        <c:axPos val="l"/>
        <c:majorGridlines>
          <c:spPr>
            <a:ln w="9525" cap="flat">
              <a:solidFill>
                <a:srgbClr val="E3E6EA"/>
              </a:solidFill>
              <a:prstDash val="solid"/>
              <a:round/>
            </a:ln>
          </c:spPr>
        </c:majorGridlines>
        <c:numFmt formatCode="0.00" sourceLinked="0"/>
        <c:majorTickMark val="out"/>
        <c:minorTickMark val="none"/>
        <c:tickLblPos val="nextTo"/>
        <c:spPr>
          <a:ln w="12700" cap="flat">
            <a:noFill/>
            <a:prstDash val="solid"/>
            <a:round/>
          </a:ln>
        </c:spPr>
        <c:txPr>
          <a:bodyPr/>
          <a:lstStyle/>
          <a:p>
            <a:pPr>
              <a:defRPr sz="1300" b="0" i="0" u="none" strike="noStrike">
                <a:solidFill>
                  <a:srgbClr val="1F2328"/>
                </a:solidFill>
                <a:latin typeface="Arial"/>
              </a:defRPr>
            </a:pPr>
            <a:endParaRPr lang="en-US"/>
          </a:p>
        </c:txPr>
        <c:crossAx val="2094734554"/>
        <c:crosses val="autoZero"/>
        <c:crossBetween val="between"/>
        <c:majorUnit val="0.01"/>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500" b="0" i="0" u="none" strike="noStrike">
                <a:solidFill>
                  <a:srgbClr val="1F2328"/>
                </a:solidFill>
                <a:latin typeface="Arial"/>
              </a:defRPr>
            </a:pPr>
            <a:r>
              <a:rPr lang="en-US" sz="1500" b="0" i="0" u="none" strike="noStrike">
                <a:solidFill>
                  <a:srgbClr val="1F2328"/>
                </a:solidFill>
                <a:latin typeface="Arial"/>
              </a:rPr>
              <a:t>Ũ of genuine training rows at the last step (seed 0)</a:t>
            </a:r>
          </a:p>
        </c:rich>
      </c:tx>
      <c:overlay val="0"/>
    </c:title>
    <c:autoTitleDeleted val="0"/>
    <c:plotArea>
      <c:layout/>
      <c:barChart>
        <c:barDir val="col"/>
        <c:grouping val="clustered"/>
        <c:varyColors val="0"/>
        <c:ser>
          <c:idx val="0"/>
          <c:order val="0"/>
          <c:tx>
            <c:strRef>
              <c:f>Sheet1!$B$1</c:f>
              <c:strCache>
                <c:ptCount val="1"/>
                <c:pt idx="0">
                  <c:v>Share of genuine rows (%)</c:v>
                </c:pt>
              </c:strCache>
            </c:strRef>
          </c:tx>
          <c:spPr>
            <a:solidFill>
              <a:srgbClr val="1F3A5F"/>
            </a:solidFill>
            <a:effectLst/>
          </c:spPr>
          <c:invertIfNegative val="0"/>
          <c:dLbls>
            <c:numFmt formatCode="0.0" sourceLinked="0"/>
            <c:spPr>
              <a:noFill/>
              <a:ln>
                <a:noFill/>
              </a:ln>
              <a:effectLst/>
            </c:spPr>
            <c:txPr>
              <a:bodyPr/>
              <a:lstStyle/>
              <a:p>
                <a:pPr>
                  <a:defRPr sz="1300" b="0" i="0" u="none" strike="noStrike">
                    <a:solidFill>
                      <a:srgbClr val="1F232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0.80–0.90</c:v>
                </c:pt>
                <c:pt idx="1">
                  <c:v>0.90–0.95</c:v>
                </c:pt>
                <c:pt idx="2">
                  <c:v>0.95–0.97</c:v>
                </c:pt>
                <c:pt idx="3">
                  <c:v>0.97–0.98</c:v>
                </c:pt>
                <c:pt idx="4">
                  <c:v>0.98–0.99</c:v>
                </c:pt>
                <c:pt idx="5">
                  <c:v>0.99–0.995</c:v>
                </c:pt>
                <c:pt idx="6">
                  <c:v>0.995–1</c:v>
                </c:pt>
              </c:strCache>
            </c:strRef>
          </c:cat>
          <c:val>
            <c:numRef>
              <c:f>Sheet1!$B$2:$B$8</c:f>
              <c:numCache>
                <c:formatCode>General</c:formatCode>
                <c:ptCount val="7"/>
                <c:pt idx="0">
                  <c:v>0.1</c:v>
                </c:pt>
                <c:pt idx="1">
                  <c:v>2.1</c:v>
                </c:pt>
                <c:pt idx="2">
                  <c:v>6.7</c:v>
                </c:pt>
                <c:pt idx="3">
                  <c:v>9.1999999999999993</c:v>
                </c:pt>
                <c:pt idx="4">
                  <c:v>26</c:v>
                </c:pt>
                <c:pt idx="5">
                  <c:v>23.9</c:v>
                </c:pt>
                <c:pt idx="6">
                  <c:v>32.1</c:v>
                </c:pt>
              </c:numCache>
            </c:numRef>
          </c:val>
          <c:extLst>
            <c:ext xmlns:c16="http://schemas.microsoft.com/office/drawing/2014/chart" uri="{C3380CC4-5D6E-409C-BE32-E72D297353CC}">
              <c16:uniqueId val="{00000000-6696-4F84-9654-0C41715049AA}"/>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9AA1AA"/>
            </a:solidFill>
            <a:prstDash val="solid"/>
            <a:round/>
          </a:ln>
        </c:spPr>
        <c:txPr>
          <a:bodyPr/>
          <a:lstStyle/>
          <a:p>
            <a:pPr>
              <a:defRPr sz="1200" b="0" i="0" u="none" strike="noStrike">
                <a:solidFill>
                  <a:srgbClr val="1F2328"/>
                </a:solidFill>
                <a:latin typeface="Arial"/>
              </a:defRPr>
            </a:pPr>
            <a:endParaRPr lang="en-US"/>
          </a:p>
        </c:txPr>
        <c:crossAx val="2094734552"/>
        <c:crosses val="autoZero"/>
        <c:auto val="1"/>
        <c:lblAlgn val="ctr"/>
        <c:lblOffset val="100"/>
        <c:noMultiLvlLbl val="1"/>
      </c:catAx>
      <c:valAx>
        <c:axId val="2094734552"/>
        <c:scaling>
          <c:orientation val="minMax"/>
          <c:max val="40"/>
          <c:min val="0"/>
        </c:scaling>
        <c:delete val="0"/>
        <c:axPos val="l"/>
        <c:majorGridlines>
          <c:spPr>
            <a:ln w="9525" cap="flat">
              <a:solidFill>
                <a:srgbClr val="E3E6EA"/>
              </a:solidFill>
              <a:prstDash val="solid"/>
              <a:round/>
            </a:ln>
          </c:spPr>
        </c:majorGridlines>
        <c:title>
          <c:tx>
            <c:rich>
              <a:bodyPr/>
              <a:lstStyle/>
              <a:p>
                <a:pPr>
                  <a:defRPr sz="1400" b="0" i="0" u="none" strike="noStrike">
                    <a:solidFill>
                      <a:srgbClr val="1F2328"/>
                    </a:solidFill>
                    <a:latin typeface="Arial"/>
                  </a:defRPr>
                </a:pPr>
                <a:r>
                  <a:rPr lang="en-US" sz="1400" b="0" i="0" u="none" strike="noStrike">
                    <a:solidFill>
                      <a:srgbClr val="1F2328"/>
                    </a:solidFill>
                    <a:latin typeface="Arial"/>
                  </a:rPr>
                  <a:t>% of genuine rows</a:t>
                </a:r>
              </a:p>
            </c:rich>
          </c:tx>
          <c:overlay val="0"/>
        </c:title>
        <c:numFmt formatCode="0" sourceLinked="0"/>
        <c:majorTickMark val="out"/>
        <c:minorTickMark val="none"/>
        <c:tickLblPos val="nextTo"/>
        <c:spPr>
          <a:ln w="12700" cap="flat">
            <a:noFill/>
            <a:prstDash val="solid"/>
            <a:round/>
          </a:ln>
        </c:spPr>
        <c:txPr>
          <a:bodyPr/>
          <a:lstStyle/>
          <a:p>
            <a:pPr>
              <a:defRPr sz="1300" b="0" i="0" u="none" strike="noStrike">
                <a:solidFill>
                  <a:srgbClr val="1F2328"/>
                </a:solidFill>
                <a:latin typeface="Arial"/>
              </a:defRPr>
            </a:pPr>
            <a:endParaRPr lang="en-US"/>
          </a:p>
        </c:txPr>
        <c:crossAx val="2094734554"/>
        <c:crosses val="autoZero"/>
        <c:crossBetween val="between"/>
        <c:majorUnit val="10"/>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02093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 Good morning. I am Tanish Anand, and with me is Tumu Sai Seshi Kiran. Our Machine Learning project is about an Uncertainty-Aware Self-Paced Ensemble for imbalanced classification. We started from a published method called Self-Paced Ensemble, or SPE, and tested one small change to it: using how much the classifiers agree when choosing training rows. We will explain SPE, our change, how we tested it, and what we found, including where the result was not conclusive.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 Our data is the credit-card fraud dataset. After removing duplicates there are 283,726 transactions and only 473 frauds, about 1 in 599. In the training split that is 169,951 genuine rows against 284 frauds; the fraud bar on the chart is almost invisible. A model that always says "genuine" would be 99.83 percent accurate and still catch no fraud. Because genuine rows dominate the training loss, a normal classifier pays little attention to fraud. So accuracy is the wrong measure, and we need methods and metrics that focus on the rare class.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70 s] A simple fix is undersampling: keep all 284 frauds and use only 284 genuine rows. Random undersampling has two problems. Most genuine rows are easy, so a random sample is mostly easy rows, and a lot of information is thrown away. SPE, from Liu and others at ICDE 2020, trains ten classifiers one after another. Before each new classifier it measures the hardness of every genuine row: the average fraud probability given by the classifiers trained so far. A hard genuine row is one that looks like fraud. SPE uses hardness to choose the next sample. Early classifiers see rows from all hardness levels, and later ones focus more on hard rows. That gradual shift is why it is called self-paced.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90 s] Here is the full loop. The first classifier is trained on all frauds and 284 random genuine rows. We then compute the hardness of every genuine training row and put each row into one of 20 equal-width bins between 0 and 1. The 284-row budget is shared across bins in proportion to the weight at the bottom: one over the bin's average hardness plus alpha. Alpha grows with the round number, from about 0.16 to 6.31, so in later rounds the weights become more even and harder bins get a larger share. Inside each bin, SPE picks rows uniformly at random. We train the next classifier on the new sample and repeat until there are ten. The final prediction is the average of the ten probabilities. The highlighted box is the only place UA-SPE changes anything: how rows are chosen inside a bin.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70 s] Hardness only looks at the average prediction. These three rows all have hardness 0.5. For row X all four classifiers say 0.5, so they agree. For row Y they disagree a lot, and for row Z they disagree as much as possible. SPE puts all three in the same bin and treats them the same. Our question was: inside a bin, does it help to prefer rows on which the classifiers agree? The p times one-minus-p score comes from Data-IQ, a NeurIPS 2022 paper, but we only borrowed that idea; we did not implement Data-IQ. We also did not assume that agreed-on rows are more useful. That is exactly what the experiment checks.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90 s] UA-SPE adds three steps. First, for each genuine row, we average p times one minus p over the classifiers so far; this is U. Second, we divide U by H times one minus H. This equals one minus the variance of the predictions divided by H times one minus H, so it lies between 0 and 1. It is 1 when all classifiers give the same probability and 0 when they disagree as much as possible for that hardness. Third, inside each bin, rows are drawn with probability proportional to U-tilde to the power gamma. With gamma 0 every weight is 1, so the code takes exactly the SPE path; we use it as a control. Gamma 1, 2 and 4 give a stronger and stronger preference for high U-tilde. Two cautions: U-tilde only measures agreement relative to hardness, and a high value does not guarantee a row is informative. Everything else in SPE stays the same.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 We used one stratified 60/20/20 split with seed 42. The training part has 170,235 rows with 284 frauds, and the test part has 56,746 rows with 95 frauds. We did not use the validation part. Every method uses the same classifier: histogram gradient boosting with ten boosting rounds and no early stopping. SPE and UA-SPE use ten classifiers, twenty bins and 284 genuine rows per classifier. We compared against six baselines: plain training, random undersampling with one and with ten classifiers, random oversampling, SMOTE, and class weights. Each of the 11 methods was run with five seeds, 55 runs in total.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 Our main metric is average precision, the area under the precision-recall curve. It only depends on how the frauds are ranked, so it needs no threshold, and random guessing scores about 0.002 here. We also report G-mean, the square root of recall times specificity, and the number of false alarms, both at threshold 0.5. Note that G-mean and false alarms depend on the threshold but AP does not. To be transparent: we first planned G-mean as the main metric and switched to AP after seeing the baseline results, so we report both. For variability we show the standard deviation over five seeds, per-seed comparisons, and a bootstrap with 1,000 resamples of the test set.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90 s] This slide compares SPE with the baselines. SPE has the highest average precision, 0.842. The next best is the random undersampling ensemble with ten classifiers at 0.735, then SMOTE at 0.716. SPE's AP was higher than every baseline on all five seeds. The G-mean column tells a different story: five of the six baselines have a slightly higher G-mean at threshold 0.5. But they get it by flagging many more genuine transactions: from 311 to 2,811 false alarms, compared with about 8 for SPE. So at 0.5 they sit at a different operating point. Also note the single random undersampling model varies a lot between seeds, with AP standard deviation 0.237. Class weights and plain training have no randomness, so their results are the same on every seed.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80 s] Now SPE against UA-SPE. Each grey dot is one seed and the navy dot is the mean. Gamma 1 and gamma 4 are essentially the same as SPE. Gamma 2 has the highest mean AP, 0.849 against 0.842, a difference of 0.007. But it was better on only three of five seeds, and the bootstrap 95 percent interval for the difference, minus 0.003 to plus 0.018, includes zero. UA-SPE had a slightly higher score, but we cannot conclude that the improvement is reliable. Gamma 2's smaller spread across seeds is based on only five values, so we do not build a claim on it. As a check, gamma 0 gave exactly the same results as SPE on every seed.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70 s] Why was the effect so small? The chart shows U-tilde for all genuine training rows at the last step of one run. Almost all values are close to 1: the median is 0.991 and 90 percent of rows are above 0.97. The ten classifiers gave very similar probabilities; the average variance between them was only about 0.0025. Raising numbers close to 1 to a power still gives numbers close to 1, so the selection weights were nearly equal. We measured how much selection probability moved compared with SPE: 1.3 percent for gamma 1, 2.5 for gamma 2 and 5.1 for gamma 4. So the sampling distribution changed only modestly. This is a result for this dataset and classifier; we did not test settings where the classifiers disagree more.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 To conclude. SPE ranked frauds better than all six baselines on every seed. Baselines with a higher G-mean at 0.5 achieved it with many more false alarms. UA-SPE with gamma 2 had the highest mean AP, but the gain is small and not statistically conclusive, and gamma 1 and 4 did not improve on SPE. The main limitations: one dataset, one split and five seeds; only 95 test frauds; one classifier type with a fixed threshold; and U-tilde is partly computed on rows the classifiers were trained on. Finally, our plain-training AP of 0.580 is lower than the 0.803 in the SPE paper, and we did not investigate why. Thank you; we are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Show this if asked about the code. spe.py contains the whole algorithm. The excerpt shows the only place UA-SPE differs from SPE: gamma 0 returns None, so the same uniform sampler as SPE is used. For gamma above 0 the weighted draw uses the random numbers differently, so the selected rows can differ from the first selection onwards. Rows are drawn without replacement one at a time, so inclusion probabilities are not exactly proportional to the weights. The test suite has 52 tests.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References used in the talk.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548640" y="1234440"/>
            <a:ext cx="11094415" cy="411480"/>
          </a:xfrm>
          <a:prstGeom prst="rect">
            <a:avLst/>
          </a:prstGeom>
          <a:noFill/>
          <a:ln/>
        </p:spPr>
        <p:txBody>
          <a:bodyPr wrap="square" lIns="0" tIns="0" rIns="0" bIns="0" rtlCol="0" anchor="t"/>
          <a:lstStyle/>
          <a:p>
            <a:pPr marL="0" indent="0">
              <a:buNone/>
            </a:pPr>
            <a:r>
              <a:rPr lang="en-US" sz="2200" dirty="0">
                <a:solidFill>
                  <a:srgbClr val="5F6670"/>
                </a:solidFill>
                <a:latin typeface="Arial" pitchFamily="34" charset="0"/>
                <a:ea typeface="Arial" pitchFamily="34" charset="-122"/>
                <a:cs typeface="Arial" pitchFamily="34" charset="-120"/>
              </a:rPr>
              <a:t>Machine Learning  ·  DA 3011L</a:t>
            </a:r>
            <a:endParaRPr lang="en-US" sz="2200" dirty="0"/>
          </a:p>
        </p:txBody>
      </p:sp>
      <p:sp>
        <p:nvSpPr>
          <p:cNvPr id="4" name="Text 1"/>
          <p:cNvSpPr/>
          <p:nvPr/>
        </p:nvSpPr>
        <p:spPr>
          <a:xfrm>
            <a:off x="548640" y="1828800"/>
            <a:ext cx="11094415" cy="1463040"/>
          </a:xfrm>
          <a:prstGeom prst="rect">
            <a:avLst/>
          </a:prstGeom>
          <a:noFill/>
          <a:ln/>
        </p:spPr>
        <p:txBody>
          <a:bodyPr wrap="square" lIns="0" tIns="0" rIns="0" bIns="0" rtlCol="0" anchor="ctr"/>
          <a:lstStyle/>
          <a:p>
            <a:pPr marL="0" indent="0">
              <a:buNone/>
            </a:pPr>
            <a:r>
              <a:rPr lang="en-US" sz="4000" b="1" dirty="0">
                <a:solidFill>
                  <a:srgbClr val="1F3A5F"/>
                </a:solidFill>
                <a:latin typeface="Arial" pitchFamily="34" charset="0"/>
                <a:ea typeface="Arial" pitchFamily="34" charset="-122"/>
                <a:cs typeface="Arial" pitchFamily="34" charset="-120"/>
              </a:rPr>
              <a:t>Uncertainty-Aware Self-Paced Ensemble</a:t>
            </a:r>
            <a:endParaRPr lang="en-US" sz="4000" dirty="0"/>
          </a:p>
          <a:p>
            <a:pPr marL="0" indent="0">
              <a:buNone/>
            </a:pPr>
            <a:r>
              <a:rPr lang="en-US" sz="4000" b="1" dirty="0">
                <a:solidFill>
                  <a:srgbClr val="1F3A5F"/>
                </a:solidFill>
                <a:latin typeface="Arial" pitchFamily="34" charset="0"/>
                <a:ea typeface="Arial" pitchFamily="34" charset="-122"/>
                <a:cs typeface="Arial" pitchFamily="34" charset="-120"/>
              </a:rPr>
              <a:t>for Imbalanced Classification</a:t>
            </a:r>
            <a:endParaRPr lang="en-US" sz="4000" dirty="0"/>
          </a:p>
        </p:txBody>
      </p:sp>
      <p:sp>
        <p:nvSpPr>
          <p:cNvPr id="5" name="Shape 2"/>
          <p:cNvSpPr/>
          <p:nvPr/>
        </p:nvSpPr>
        <p:spPr>
          <a:xfrm>
            <a:off x="548640" y="3520440"/>
            <a:ext cx="4114800" cy="0"/>
          </a:xfrm>
          <a:prstGeom prst="line">
            <a:avLst/>
          </a:prstGeom>
          <a:noFill/>
          <a:ln w="19050">
            <a:solidFill>
              <a:srgbClr val="1F3A5F"/>
            </a:solidFill>
            <a:prstDash val="solid"/>
          </a:ln>
        </p:spPr>
      </p:sp>
      <p:sp>
        <p:nvSpPr>
          <p:cNvPr id="6" name="Text 3"/>
          <p:cNvSpPr/>
          <p:nvPr/>
        </p:nvSpPr>
        <p:spPr>
          <a:xfrm>
            <a:off x="548640" y="3840480"/>
            <a:ext cx="4206240" cy="457200"/>
          </a:xfrm>
          <a:prstGeom prst="rect">
            <a:avLst/>
          </a:prstGeom>
          <a:noFill/>
          <a:ln/>
        </p:spPr>
        <p:txBody>
          <a:bodyPr wrap="square" lIns="0" tIns="0" rIns="0" bIns="0" rtlCol="0" anchor="ctr"/>
          <a:lstStyle/>
          <a:p>
            <a:pPr marL="0" indent="0">
              <a:buNone/>
            </a:pPr>
            <a:r>
              <a:rPr lang="en-US" sz="2400" dirty="0">
                <a:solidFill>
                  <a:srgbClr val="1F2328"/>
                </a:solidFill>
                <a:latin typeface="Arial" pitchFamily="34" charset="0"/>
                <a:ea typeface="Arial" pitchFamily="34" charset="-122"/>
                <a:cs typeface="Arial" pitchFamily="34" charset="-120"/>
              </a:rPr>
              <a:t>Tanish Anand</a:t>
            </a:r>
            <a:endParaRPr lang="en-US" sz="2400" dirty="0"/>
          </a:p>
        </p:txBody>
      </p:sp>
      <p:sp>
        <p:nvSpPr>
          <p:cNvPr id="7" name="Text 4"/>
          <p:cNvSpPr/>
          <p:nvPr/>
        </p:nvSpPr>
        <p:spPr>
          <a:xfrm>
            <a:off x="4754880" y="3840480"/>
            <a:ext cx="2194560" cy="457200"/>
          </a:xfrm>
          <a:prstGeom prst="rect">
            <a:avLst/>
          </a:prstGeom>
          <a:noFill/>
          <a:ln/>
        </p:spPr>
        <p:txBody>
          <a:bodyPr wrap="square" lIns="0" tIns="0" rIns="0" bIns="0" rtlCol="0" anchor="ctr"/>
          <a:lstStyle/>
          <a:p>
            <a:pPr marL="0" indent="0">
              <a:buNone/>
            </a:pPr>
            <a:r>
              <a:rPr lang="en-US" sz="2400" dirty="0">
                <a:solidFill>
                  <a:srgbClr val="5F6670"/>
                </a:solidFill>
                <a:latin typeface="Arial" pitchFamily="34" charset="0"/>
                <a:ea typeface="Arial" pitchFamily="34" charset="-122"/>
                <a:cs typeface="Arial" pitchFamily="34" charset="-120"/>
              </a:rPr>
              <a:t>240150037</a:t>
            </a:r>
            <a:endParaRPr lang="en-US" sz="2400" dirty="0"/>
          </a:p>
        </p:txBody>
      </p:sp>
      <p:sp>
        <p:nvSpPr>
          <p:cNvPr id="8" name="Text 5"/>
          <p:cNvSpPr/>
          <p:nvPr/>
        </p:nvSpPr>
        <p:spPr>
          <a:xfrm>
            <a:off x="548640" y="4389120"/>
            <a:ext cx="4206240" cy="457200"/>
          </a:xfrm>
          <a:prstGeom prst="rect">
            <a:avLst/>
          </a:prstGeom>
          <a:noFill/>
          <a:ln/>
        </p:spPr>
        <p:txBody>
          <a:bodyPr wrap="square" lIns="0" tIns="0" rIns="0" bIns="0" rtlCol="0" anchor="ctr"/>
          <a:lstStyle/>
          <a:p>
            <a:pPr marL="0" indent="0">
              <a:buNone/>
            </a:pPr>
            <a:r>
              <a:rPr lang="en-US" sz="2400" dirty="0">
                <a:solidFill>
                  <a:srgbClr val="1F2328"/>
                </a:solidFill>
                <a:latin typeface="Arial" pitchFamily="34" charset="0"/>
                <a:ea typeface="Arial" pitchFamily="34" charset="-122"/>
                <a:cs typeface="Arial" pitchFamily="34" charset="-120"/>
              </a:rPr>
              <a:t>Tumu Sai Seshi Kiran</a:t>
            </a:r>
            <a:endParaRPr lang="en-US" sz="2400" dirty="0"/>
          </a:p>
        </p:txBody>
      </p:sp>
      <p:sp>
        <p:nvSpPr>
          <p:cNvPr id="9" name="Text 6"/>
          <p:cNvSpPr/>
          <p:nvPr/>
        </p:nvSpPr>
        <p:spPr>
          <a:xfrm>
            <a:off x="4754880" y="4389120"/>
            <a:ext cx="2194560" cy="457200"/>
          </a:xfrm>
          <a:prstGeom prst="rect">
            <a:avLst/>
          </a:prstGeom>
          <a:noFill/>
          <a:ln/>
        </p:spPr>
        <p:txBody>
          <a:bodyPr wrap="square" lIns="0" tIns="0" rIns="0" bIns="0" rtlCol="0" anchor="ctr"/>
          <a:lstStyle/>
          <a:p>
            <a:pPr marL="0" indent="0">
              <a:buNone/>
            </a:pPr>
            <a:r>
              <a:rPr lang="en-US" sz="2400" dirty="0">
                <a:solidFill>
                  <a:srgbClr val="5F6670"/>
                </a:solidFill>
                <a:latin typeface="Arial" pitchFamily="34" charset="0"/>
                <a:ea typeface="Arial" pitchFamily="34" charset="-122"/>
                <a:cs typeface="Arial" pitchFamily="34" charset="-120"/>
              </a:rPr>
              <a:t>240150038</a:t>
            </a:r>
            <a:endParaRPr lang="en-US" sz="2400" dirty="0"/>
          </a:p>
        </p:txBody>
      </p:sp>
      <p:sp>
        <p:nvSpPr>
          <p:cNvPr id="10" name="Text 7"/>
          <p:cNvSpPr/>
          <p:nvPr/>
        </p:nvSpPr>
        <p:spPr>
          <a:xfrm>
            <a:off x="548640" y="5394960"/>
            <a:ext cx="11094415" cy="365760"/>
          </a:xfrm>
          <a:prstGeom prst="rect">
            <a:avLst/>
          </a:prstGeom>
          <a:noFill/>
          <a:ln/>
        </p:spPr>
        <p:txBody>
          <a:bodyPr wrap="square" lIns="0" tIns="0" rIns="0" bIns="0" rtlCol="0" anchor="t"/>
          <a:lstStyle/>
          <a:p>
            <a:pPr marL="0" indent="0">
              <a:buNone/>
            </a:pPr>
            <a:r>
              <a:rPr lang="en-US" sz="1800" dirty="0">
                <a:solidFill>
                  <a:srgbClr val="5F6670"/>
                </a:solidFill>
                <a:latin typeface="Arial" pitchFamily="34" charset="0"/>
                <a:ea typeface="Arial" pitchFamily="34" charset="-122"/>
                <a:cs typeface="Arial" pitchFamily="34" charset="-120"/>
              </a:rPr>
              <a:t>Course project presentation  ·  October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4415" cy="731520"/>
          </a:xfrm>
          <a:prstGeom prst="rect">
            <a:avLst/>
          </a:prstGeom>
          <a:noFill/>
          <a:ln/>
        </p:spPr>
        <p:txBody>
          <a:bodyPr wrap="square" lIns="0" tIns="0" rIns="0" bIns="0" rtlCol="0" anchor="ctr"/>
          <a:lstStyle/>
          <a:p>
            <a:pPr marL="0" indent="0">
              <a:buNone/>
            </a:pPr>
            <a:r>
              <a:rPr lang="en-US" sz="3200" b="1" dirty="0">
                <a:solidFill>
                  <a:srgbClr val="1F3A5F"/>
                </a:solidFill>
                <a:latin typeface="Arial" pitchFamily="34" charset="0"/>
                <a:ea typeface="Arial" pitchFamily="34" charset="-122"/>
                <a:cs typeface="Arial" pitchFamily="34" charset="-120"/>
              </a:rPr>
              <a:t>Why imbalanced classification is difficult</a:t>
            </a:r>
            <a:endParaRPr lang="en-US" sz="3200" dirty="0"/>
          </a:p>
        </p:txBody>
      </p:sp>
      <p:sp>
        <p:nvSpPr>
          <p:cNvPr id="3" name="Shape 1"/>
          <p:cNvSpPr/>
          <p:nvPr/>
        </p:nvSpPr>
        <p:spPr>
          <a:xfrm>
            <a:off x="548640" y="6355080"/>
            <a:ext cx="11094415" cy="0"/>
          </a:xfrm>
          <a:prstGeom prst="line">
            <a:avLst/>
          </a:prstGeom>
          <a:noFill/>
          <a:ln w="9525">
            <a:solidFill>
              <a:srgbClr val="E3E6EA"/>
            </a:solidFill>
            <a:prstDash val="solid"/>
          </a:ln>
        </p:spPr>
      </p:sp>
      <p:sp>
        <p:nvSpPr>
          <p:cNvPr id="4" name="Text 2"/>
          <p:cNvSpPr/>
          <p:nvPr/>
        </p:nvSpPr>
        <p:spPr>
          <a:xfrm>
            <a:off x="548640" y="6400800"/>
            <a:ext cx="7315200" cy="274320"/>
          </a:xfrm>
          <a:prstGeom prst="rect">
            <a:avLst/>
          </a:prstGeom>
          <a:noFill/>
          <a:ln/>
        </p:spPr>
        <p:txBody>
          <a:bodyPr wrap="square" lIns="0" tIns="0" rIns="0" bIns="0" rtlCol="0" anchor="ctr"/>
          <a:lstStyle/>
          <a:p>
            <a:pPr marL="0" indent="0">
              <a:buNone/>
            </a:pPr>
            <a:r>
              <a:rPr lang="en-US" sz="1100" dirty="0">
                <a:solidFill>
                  <a:srgbClr val="5F6670"/>
                </a:solidFill>
                <a:latin typeface="Arial" pitchFamily="34" charset="0"/>
                <a:ea typeface="Arial" pitchFamily="34" charset="-122"/>
                <a:cs typeface="Arial" pitchFamily="34" charset="-120"/>
              </a:rPr>
              <a:t>DA 3011L · Uncertainty-Aware Self-Paced Ensemble</a:t>
            </a:r>
            <a:endParaRPr lang="en-US" sz="1100" dirty="0"/>
          </a:p>
        </p:txBody>
      </p:sp>
      <p:sp>
        <p:nvSpPr>
          <p:cNvPr id="5" name="Text 3"/>
          <p:cNvSpPr/>
          <p:nvPr/>
        </p:nvSpPr>
        <p:spPr>
          <a:xfrm>
            <a:off x="10728655" y="6400800"/>
            <a:ext cx="914400" cy="274320"/>
          </a:xfrm>
          <a:prstGeom prst="rect">
            <a:avLst/>
          </a:prstGeom>
          <a:noFill/>
          <a:ln/>
        </p:spPr>
        <p:txBody>
          <a:bodyPr wrap="square" lIns="0" tIns="0" rIns="0" bIns="0" rtlCol="0" anchor="ctr"/>
          <a:lstStyle/>
          <a:p>
            <a:pPr marL="0" indent="0" algn="r">
              <a:buNone/>
            </a:pPr>
            <a:r>
              <a:rPr lang="en-US" sz="1100" dirty="0">
                <a:solidFill>
                  <a:srgbClr val="5F6670"/>
                </a:solidFill>
                <a:latin typeface="Arial" pitchFamily="34" charset="0"/>
                <a:ea typeface="Arial" pitchFamily="34" charset="-122"/>
                <a:cs typeface="Arial" pitchFamily="34" charset="-120"/>
              </a:rPr>
              <a:t>2</a:t>
            </a:r>
            <a:endParaRPr lang="en-US" sz="1100" dirty="0"/>
          </a:p>
        </p:txBody>
      </p:sp>
      <p:sp>
        <p:nvSpPr>
          <p:cNvPr id="7" name="Text 4"/>
          <p:cNvSpPr/>
          <p:nvPr/>
        </p:nvSpPr>
        <p:spPr>
          <a:xfrm>
            <a:off x="548640" y="1325880"/>
            <a:ext cx="6035040" cy="4754880"/>
          </a:xfrm>
          <a:prstGeom prst="rect">
            <a:avLst/>
          </a:prstGeom>
          <a:noFill/>
          <a:ln/>
        </p:spPr>
        <p:txBody>
          <a:bodyPr wrap="square" lIns="0" tIns="0" rIns="0" bIns="0" rtlCol="0" anchor="t"/>
          <a:lstStyle/>
          <a:p>
            <a:pPr marL="279400" indent="-279400">
              <a:spcAft>
                <a:spcPts val="1800"/>
              </a:spcAft>
              <a:buSzPct val="100000"/>
              <a:buChar char="•"/>
            </a:pPr>
            <a:r>
              <a:rPr lang="en-US" sz="2200" dirty="0">
                <a:solidFill>
                  <a:srgbClr val="1F2328"/>
                </a:solidFill>
                <a:latin typeface="Arial" pitchFamily="34" charset="0"/>
                <a:ea typeface="Arial" pitchFamily="34" charset="-122"/>
                <a:cs typeface="Arial" pitchFamily="34" charset="-120"/>
              </a:rPr>
              <a:t>Credit-card fraud: 473 frauds in 283,726 transactions, about 1 in 599</a:t>
            </a:r>
            <a:endParaRPr lang="en-US" sz="2200" dirty="0"/>
          </a:p>
          <a:p>
            <a:pPr marL="279400" indent="-279400">
              <a:spcAft>
                <a:spcPts val="1800"/>
              </a:spcAft>
              <a:buSzPct val="100000"/>
              <a:buChar char="•"/>
            </a:pPr>
            <a:r>
              <a:rPr lang="en-US" sz="2200" dirty="0">
                <a:solidFill>
                  <a:srgbClr val="1F2328"/>
                </a:solidFill>
                <a:latin typeface="Arial" pitchFamily="34" charset="0"/>
                <a:ea typeface="Arial" pitchFamily="34" charset="-122"/>
                <a:cs typeface="Arial" pitchFamily="34" charset="-120"/>
              </a:rPr>
              <a:t>Predicting "genuine" for every transaction is 99.83% accurate but catches no fraud</a:t>
            </a:r>
            <a:endParaRPr lang="en-US" sz="2200" dirty="0"/>
          </a:p>
          <a:p>
            <a:pPr marL="279400" indent="-279400">
              <a:spcAft>
                <a:spcPts val="1800"/>
              </a:spcAft>
              <a:buSzPct val="100000"/>
              <a:buChar char="•"/>
            </a:pPr>
            <a:r>
              <a:rPr lang="en-US" sz="2200" dirty="0">
                <a:solidFill>
                  <a:srgbClr val="1F2328"/>
                </a:solidFill>
                <a:latin typeface="Arial" pitchFamily="34" charset="0"/>
                <a:ea typeface="Arial" pitchFamily="34" charset="-122"/>
                <a:cs typeface="Arial" pitchFamily="34" charset="-120"/>
              </a:rPr>
              <a:t>Training is dominated by genuine rows, so the model pays little attention to fraud</a:t>
            </a:r>
            <a:endParaRPr lang="en-US" sz="2200" dirty="0"/>
          </a:p>
          <a:p>
            <a:pPr marL="279400" indent="-279400">
              <a:spcAft>
                <a:spcPts val="1800"/>
              </a:spcAft>
              <a:buSzPct val="100000"/>
              <a:buChar char="•"/>
            </a:pPr>
            <a:r>
              <a:rPr lang="en-US" sz="2200" dirty="0">
                <a:solidFill>
                  <a:srgbClr val="1F2328"/>
                </a:solidFill>
                <a:latin typeface="Arial" pitchFamily="34" charset="0"/>
                <a:ea typeface="Arial" pitchFamily="34" charset="-122"/>
                <a:cs typeface="Arial" pitchFamily="34" charset="-120"/>
              </a:rPr>
              <a:t>Accuracy is misleading; we need methods and metrics that focus on the rare class</a:t>
            </a:r>
            <a:endParaRPr lang="en-US" sz="2200" dirty="0"/>
          </a:p>
        </p:txBody>
      </p:sp>
      <p:graphicFrame>
        <p:nvGraphicFramePr>
          <p:cNvPr id="8" name="Chart 0"/>
          <p:cNvGraphicFramePr/>
          <p:nvPr/>
        </p:nvGraphicFramePr>
        <p:xfrm>
          <a:off x="6949440" y="1325880"/>
          <a:ext cx="4663440" cy="448056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4415" cy="731520"/>
          </a:xfrm>
          <a:prstGeom prst="rect">
            <a:avLst/>
          </a:prstGeom>
          <a:noFill/>
          <a:ln/>
        </p:spPr>
        <p:txBody>
          <a:bodyPr wrap="square" lIns="0" tIns="0" rIns="0" bIns="0" rtlCol="0" anchor="ctr"/>
          <a:lstStyle/>
          <a:p>
            <a:pPr marL="0" indent="0">
              <a:buNone/>
            </a:pPr>
            <a:r>
              <a:rPr lang="en-US" sz="3200" b="1" dirty="0">
                <a:solidFill>
                  <a:srgbClr val="1F3A5F"/>
                </a:solidFill>
                <a:latin typeface="Arial" pitchFamily="34" charset="0"/>
                <a:ea typeface="Arial" pitchFamily="34" charset="-122"/>
                <a:cs typeface="Arial" pitchFamily="34" charset="-120"/>
              </a:rPr>
              <a:t>The main idea behind Self-Paced Ensemble (SPE)</a:t>
            </a:r>
            <a:endParaRPr lang="en-US" sz="3200" dirty="0"/>
          </a:p>
        </p:txBody>
      </p:sp>
      <p:sp>
        <p:nvSpPr>
          <p:cNvPr id="3" name="Shape 1"/>
          <p:cNvSpPr/>
          <p:nvPr/>
        </p:nvSpPr>
        <p:spPr>
          <a:xfrm>
            <a:off x="548640" y="6355080"/>
            <a:ext cx="11094415" cy="0"/>
          </a:xfrm>
          <a:prstGeom prst="line">
            <a:avLst/>
          </a:prstGeom>
          <a:noFill/>
          <a:ln w="9525">
            <a:solidFill>
              <a:srgbClr val="E3E6EA"/>
            </a:solidFill>
            <a:prstDash val="solid"/>
          </a:ln>
        </p:spPr>
      </p:sp>
      <p:sp>
        <p:nvSpPr>
          <p:cNvPr id="4" name="Text 2"/>
          <p:cNvSpPr/>
          <p:nvPr/>
        </p:nvSpPr>
        <p:spPr>
          <a:xfrm>
            <a:off x="548640" y="6400800"/>
            <a:ext cx="7315200" cy="274320"/>
          </a:xfrm>
          <a:prstGeom prst="rect">
            <a:avLst/>
          </a:prstGeom>
          <a:noFill/>
          <a:ln/>
        </p:spPr>
        <p:txBody>
          <a:bodyPr wrap="square" lIns="0" tIns="0" rIns="0" bIns="0" rtlCol="0" anchor="ctr"/>
          <a:lstStyle/>
          <a:p>
            <a:pPr marL="0" indent="0">
              <a:buNone/>
            </a:pPr>
            <a:r>
              <a:rPr lang="en-US" sz="1100" dirty="0">
                <a:solidFill>
                  <a:srgbClr val="5F6670"/>
                </a:solidFill>
                <a:latin typeface="Arial" pitchFamily="34" charset="0"/>
                <a:ea typeface="Arial" pitchFamily="34" charset="-122"/>
                <a:cs typeface="Arial" pitchFamily="34" charset="-120"/>
              </a:rPr>
              <a:t>DA 3011L · Uncertainty-Aware Self-Paced Ensemble</a:t>
            </a:r>
            <a:endParaRPr lang="en-US" sz="1100" dirty="0"/>
          </a:p>
        </p:txBody>
      </p:sp>
      <p:sp>
        <p:nvSpPr>
          <p:cNvPr id="5" name="Text 3"/>
          <p:cNvSpPr/>
          <p:nvPr/>
        </p:nvSpPr>
        <p:spPr>
          <a:xfrm>
            <a:off x="10728655" y="6400800"/>
            <a:ext cx="914400" cy="274320"/>
          </a:xfrm>
          <a:prstGeom prst="rect">
            <a:avLst/>
          </a:prstGeom>
          <a:noFill/>
          <a:ln/>
        </p:spPr>
        <p:txBody>
          <a:bodyPr wrap="square" lIns="0" tIns="0" rIns="0" bIns="0" rtlCol="0" anchor="ctr"/>
          <a:lstStyle/>
          <a:p>
            <a:pPr marL="0" indent="0" algn="r">
              <a:buNone/>
            </a:pPr>
            <a:r>
              <a:rPr lang="en-US" sz="1100" dirty="0">
                <a:solidFill>
                  <a:srgbClr val="5F6670"/>
                </a:solidFill>
                <a:latin typeface="Arial" pitchFamily="34" charset="0"/>
                <a:ea typeface="Arial" pitchFamily="34" charset="-122"/>
                <a:cs typeface="Arial" pitchFamily="34" charset="-120"/>
              </a:rPr>
              <a:t>3</a:t>
            </a:r>
            <a:endParaRPr lang="en-US" sz="1100" dirty="0"/>
          </a:p>
        </p:txBody>
      </p:sp>
      <p:sp>
        <p:nvSpPr>
          <p:cNvPr id="7" name="Text 4"/>
          <p:cNvSpPr/>
          <p:nvPr/>
        </p:nvSpPr>
        <p:spPr>
          <a:xfrm>
            <a:off x="548640" y="1325880"/>
            <a:ext cx="6400800" cy="4846320"/>
          </a:xfrm>
          <a:prstGeom prst="rect">
            <a:avLst/>
          </a:prstGeom>
          <a:noFill/>
          <a:ln/>
        </p:spPr>
        <p:txBody>
          <a:bodyPr wrap="square" lIns="0" tIns="0" rIns="0" bIns="0" rtlCol="0" anchor="t"/>
          <a:lstStyle/>
          <a:p>
            <a:pPr marL="279400" indent="-279400">
              <a:spcAft>
                <a:spcPts val="1800"/>
              </a:spcAft>
              <a:buSzPct val="100000"/>
              <a:buChar char="•"/>
            </a:pPr>
            <a:r>
              <a:rPr lang="en-US" sz="2400" dirty="0">
                <a:solidFill>
                  <a:srgbClr val="1F2328"/>
                </a:solidFill>
                <a:latin typeface="Arial" pitchFamily="34" charset="0"/>
                <a:ea typeface="Arial" pitchFamily="34" charset="-122"/>
                <a:cs typeface="Arial" pitchFamily="34" charset="-120"/>
              </a:rPr>
              <a:t>Undersampling: train on all 284 frauds plus only 284 genuine rows</a:t>
            </a:r>
            <a:endParaRPr lang="en-US" sz="2400" dirty="0"/>
          </a:p>
          <a:p>
            <a:pPr marL="279400" indent="-279400">
              <a:spcAft>
                <a:spcPts val="1800"/>
              </a:spcAft>
              <a:buSzPct val="100000"/>
              <a:buChar char="•"/>
            </a:pPr>
            <a:r>
              <a:rPr lang="en-US" sz="2400" dirty="0">
                <a:solidFill>
                  <a:srgbClr val="1F2328"/>
                </a:solidFill>
                <a:latin typeface="Arial" pitchFamily="34" charset="0"/>
                <a:ea typeface="Arial" pitchFamily="34" charset="-122"/>
                <a:cs typeface="Arial" pitchFamily="34" charset="-120"/>
              </a:rPr>
              <a:t>Random undersampling picks mostly easy genuine rows and wastes information</a:t>
            </a:r>
            <a:endParaRPr lang="en-US" sz="2400" dirty="0"/>
          </a:p>
          <a:p>
            <a:pPr marL="279400" indent="-279400">
              <a:spcAft>
                <a:spcPts val="1800"/>
              </a:spcAft>
              <a:buSzPct val="100000"/>
              <a:buChar char="•"/>
            </a:pPr>
            <a:r>
              <a:rPr lang="en-US" sz="2400" dirty="0">
                <a:solidFill>
                  <a:srgbClr val="1F2328"/>
                </a:solidFill>
                <a:latin typeface="Arial" pitchFamily="34" charset="0"/>
                <a:ea typeface="Arial" pitchFamily="34" charset="-122"/>
                <a:cs typeface="Arial" pitchFamily="34" charset="-120"/>
              </a:rPr>
              <a:t>SPE (Liu et al., ICDE 2020) trains 10 classifiers one after another and chooses each new genuine sample using its hardness</a:t>
            </a:r>
            <a:endParaRPr lang="en-US" sz="2400" dirty="0"/>
          </a:p>
          <a:p>
            <a:pPr marL="279400" indent="-279400">
              <a:spcAft>
                <a:spcPts val="1800"/>
              </a:spcAft>
              <a:buSzPct val="100000"/>
              <a:buChar char="•"/>
            </a:pPr>
            <a:r>
              <a:rPr lang="en-US" sz="2400" dirty="0">
                <a:solidFill>
                  <a:srgbClr val="1F2328"/>
                </a:solidFill>
                <a:latin typeface="Arial" pitchFamily="34" charset="0"/>
                <a:ea typeface="Arial" pitchFamily="34" charset="-122"/>
                <a:cs typeface="Arial" pitchFamily="34" charset="-120"/>
              </a:rPr>
              <a:t>Early classifiers see rows of all hardness levels; later classifiers focus more on hard rows</a:t>
            </a:r>
            <a:endParaRPr lang="en-US" sz="2400" dirty="0"/>
          </a:p>
        </p:txBody>
      </p:sp>
      <p:sp>
        <p:nvSpPr>
          <p:cNvPr id="8" name="Shape 5"/>
          <p:cNvSpPr/>
          <p:nvPr/>
        </p:nvSpPr>
        <p:spPr>
          <a:xfrm>
            <a:off x="7315200" y="1463040"/>
            <a:ext cx="4325112" cy="3291840"/>
          </a:xfrm>
          <a:prstGeom prst="rect">
            <a:avLst/>
          </a:prstGeom>
          <a:solidFill>
            <a:srgbClr val="FFFFFF"/>
          </a:solidFill>
          <a:ln w="12700">
            <a:solidFill>
              <a:srgbClr val="1F3A5F"/>
            </a:solidFill>
            <a:prstDash val="solid"/>
          </a:ln>
        </p:spPr>
      </p:sp>
      <p:sp>
        <p:nvSpPr>
          <p:cNvPr id="9" name="Text 6"/>
          <p:cNvSpPr/>
          <p:nvPr/>
        </p:nvSpPr>
        <p:spPr>
          <a:xfrm>
            <a:off x="7543800" y="1645920"/>
            <a:ext cx="3931920" cy="365760"/>
          </a:xfrm>
          <a:prstGeom prst="rect">
            <a:avLst/>
          </a:prstGeom>
          <a:noFill/>
          <a:ln/>
        </p:spPr>
        <p:txBody>
          <a:bodyPr wrap="square" lIns="0" tIns="0" rIns="0" bIns="0" rtlCol="0" anchor="t"/>
          <a:lstStyle/>
          <a:p>
            <a:pPr marL="0" indent="0">
              <a:buNone/>
            </a:pPr>
            <a:r>
              <a:rPr lang="en-US" sz="1800" b="1" dirty="0">
                <a:solidFill>
                  <a:srgbClr val="1F3A5F"/>
                </a:solidFill>
                <a:latin typeface="Arial" pitchFamily="34" charset="0"/>
                <a:ea typeface="Arial" pitchFamily="34" charset="-122"/>
                <a:cs typeface="Arial" pitchFamily="34" charset="-120"/>
              </a:rPr>
              <a:t>Hardness of a genuine row x</a:t>
            </a:r>
            <a:endParaRPr lang="en-US" sz="1800" dirty="0"/>
          </a:p>
        </p:txBody>
      </p:sp>
      <p:pic>
        <p:nvPicPr>
          <p:cNvPr id="10" name="Image 0" descr="/home/claude/work/deck2/eq/hard.png"/>
          <p:cNvPicPr>
            <a:picLocks noChangeAspect="1"/>
          </p:cNvPicPr>
          <p:nvPr/>
        </p:nvPicPr>
        <p:blipFill>
          <a:blip r:embed="rId3"/>
          <a:stretch>
            <a:fillRect/>
          </a:stretch>
        </p:blipFill>
        <p:spPr>
          <a:xfrm>
            <a:off x="8183880" y="2148840"/>
            <a:ext cx="2513381" cy="1013460"/>
          </a:xfrm>
          <a:prstGeom prst="rect">
            <a:avLst/>
          </a:prstGeom>
        </p:spPr>
      </p:pic>
      <p:sp>
        <p:nvSpPr>
          <p:cNvPr id="11" name="Text 7"/>
          <p:cNvSpPr/>
          <p:nvPr/>
        </p:nvSpPr>
        <p:spPr>
          <a:xfrm>
            <a:off x="7543800" y="3291840"/>
            <a:ext cx="3931920" cy="1371600"/>
          </a:xfrm>
          <a:prstGeom prst="rect">
            <a:avLst/>
          </a:prstGeom>
          <a:noFill/>
          <a:ln/>
        </p:spPr>
        <p:txBody>
          <a:bodyPr wrap="square" lIns="0" tIns="0" rIns="0" bIns="0" rtlCol="0" anchor="t"/>
          <a:lstStyle/>
          <a:p>
            <a:pPr marL="0" indent="0">
              <a:buNone/>
            </a:pPr>
            <a:r>
              <a:rPr lang="en-US" sz="1800" i="1" dirty="0">
                <a:solidFill>
                  <a:srgbClr val="5F6670"/>
                </a:solidFill>
                <a:latin typeface="Arial" pitchFamily="34" charset="0"/>
                <a:ea typeface="Arial" pitchFamily="34" charset="-122"/>
                <a:cs typeface="Arial" pitchFamily="34" charset="-120"/>
              </a:rPr>
              <a:t>p</a:t>
            </a:r>
            <a:r>
              <a:rPr lang="en-US" sz="1800" i="1" baseline="-40000" dirty="0">
                <a:solidFill>
                  <a:srgbClr val="5F6670"/>
                </a:solidFill>
                <a:latin typeface="Arial" pitchFamily="34" charset="0"/>
                <a:ea typeface="Arial" pitchFamily="34" charset="-122"/>
                <a:cs typeface="Arial" pitchFamily="34" charset="-120"/>
              </a:rPr>
              <a:t>j</a:t>
            </a:r>
            <a:r>
              <a:rPr lang="en-US" sz="1800" dirty="0">
                <a:solidFill>
                  <a:srgbClr val="5F6670"/>
                </a:solidFill>
                <a:latin typeface="Arial" pitchFamily="34" charset="0"/>
                <a:ea typeface="Arial" pitchFamily="34" charset="-122"/>
                <a:cs typeface="Arial" pitchFamily="34" charset="-120"/>
              </a:rPr>
              <a:t>(x): fraud probability from classifier j</a:t>
            </a:r>
            <a:endParaRPr lang="en-US" sz="1800" dirty="0"/>
          </a:p>
          <a:p>
            <a:pPr marL="0" indent="0">
              <a:buNone/>
            </a:pPr>
            <a:r>
              <a:rPr lang="en-US" sz="1800" dirty="0">
                <a:solidFill>
                  <a:srgbClr val="5F6670"/>
                </a:solidFill>
                <a:latin typeface="Arial" pitchFamily="34" charset="0"/>
                <a:ea typeface="Arial" pitchFamily="34" charset="-122"/>
                <a:cs typeface="Arial" pitchFamily="34" charset="-120"/>
              </a:rPr>
              <a:t> </a:t>
            </a:r>
            <a:endParaRPr lang="en-US" sz="1800" dirty="0"/>
          </a:p>
          <a:p>
            <a:pPr marL="0" indent="0">
              <a:buNone/>
            </a:pPr>
            <a:r>
              <a:rPr lang="en-US" sz="1800" dirty="0">
                <a:solidFill>
                  <a:srgbClr val="5F6670"/>
                </a:solidFill>
                <a:latin typeface="Arial" pitchFamily="34" charset="0"/>
                <a:ea typeface="Arial" pitchFamily="34" charset="-122"/>
                <a:cs typeface="Arial" pitchFamily="34" charset="-120"/>
              </a:rPr>
              <a:t>High H: a genuine row that the classifiers think looks like fraud</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4415" cy="731520"/>
          </a:xfrm>
          <a:prstGeom prst="rect">
            <a:avLst/>
          </a:prstGeom>
          <a:noFill/>
          <a:ln/>
        </p:spPr>
        <p:txBody>
          <a:bodyPr wrap="square" lIns="0" tIns="0" rIns="0" bIns="0" rtlCol="0" anchor="ctr"/>
          <a:lstStyle/>
          <a:p>
            <a:pPr marL="0" indent="0">
              <a:buNone/>
            </a:pPr>
            <a:r>
              <a:rPr lang="en-US" sz="3200" b="1" dirty="0">
                <a:solidFill>
                  <a:srgbClr val="1F3A5F"/>
                </a:solidFill>
                <a:latin typeface="Arial" pitchFamily="34" charset="0"/>
                <a:ea typeface="Arial" pitchFamily="34" charset="-122"/>
                <a:cs typeface="Arial" pitchFamily="34" charset="-120"/>
              </a:rPr>
              <a:t>How SPE works</a:t>
            </a:r>
            <a:endParaRPr lang="en-US" sz="3200" dirty="0"/>
          </a:p>
        </p:txBody>
      </p:sp>
      <p:sp>
        <p:nvSpPr>
          <p:cNvPr id="3" name="Shape 1"/>
          <p:cNvSpPr/>
          <p:nvPr/>
        </p:nvSpPr>
        <p:spPr>
          <a:xfrm>
            <a:off x="548640" y="6355080"/>
            <a:ext cx="11094415" cy="0"/>
          </a:xfrm>
          <a:prstGeom prst="line">
            <a:avLst/>
          </a:prstGeom>
          <a:noFill/>
          <a:ln w="9525">
            <a:solidFill>
              <a:srgbClr val="E3E6EA"/>
            </a:solidFill>
            <a:prstDash val="solid"/>
          </a:ln>
        </p:spPr>
      </p:sp>
      <p:sp>
        <p:nvSpPr>
          <p:cNvPr id="4" name="Text 2"/>
          <p:cNvSpPr/>
          <p:nvPr/>
        </p:nvSpPr>
        <p:spPr>
          <a:xfrm>
            <a:off x="548640" y="6400800"/>
            <a:ext cx="7315200" cy="274320"/>
          </a:xfrm>
          <a:prstGeom prst="rect">
            <a:avLst/>
          </a:prstGeom>
          <a:noFill/>
          <a:ln/>
        </p:spPr>
        <p:txBody>
          <a:bodyPr wrap="square" lIns="0" tIns="0" rIns="0" bIns="0" rtlCol="0" anchor="ctr"/>
          <a:lstStyle/>
          <a:p>
            <a:pPr marL="0" indent="0">
              <a:buNone/>
            </a:pPr>
            <a:r>
              <a:rPr lang="en-US" sz="1100" dirty="0">
                <a:solidFill>
                  <a:srgbClr val="5F6670"/>
                </a:solidFill>
                <a:latin typeface="Arial" pitchFamily="34" charset="0"/>
                <a:ea typeface="Arial" pitchFamily="34" charset="-122"/>
                <a:cs typeface="Arial" pitchFamily="34" charset="-120"/>
              </a:rPr>
              <a:t>DA 3011L · Uncertainty-Aware Self-Paced Ensemble</a:t>
            </a:r>
            <a:endParaRPr lang="en-US" sz="1100" dirty="0"/>
          </a:p>
        </p:txBody>
      </p:sp>
      <p:sp>
        <p:nvSpPr>
          <p:cNvPr id="5" name="Text 3"/>
          <p:cNvSpPr/>
          <p:nvPr/>
        </p:nvSpPr>
        <p:spPr>
          <a:xfrm>
            <a:off x="10728655" y="6400800"/>
            <a:ext cx="914400" cy="274320"/>
          </a:xfrm>
          <a:prstGeom prst="rect">
            <a:avLst/>
          </a:prstGeom>
          <a:noFill/>
          <a:ln/>
        </p:spPr>
        <p:txBody>
          <a:bodyPr wrap="square" lIns="0" tIns="0" rIns="0" bIns="0" rtlCol="0" anchor="ctr"/>
          <a:lstStyle/>
          <a:p>
            <a:pPr marL="0" indent="0" algn="r">
              <a:buNone/>
            </a:pPr>
            <a:r>
              <a:rPr lang="en-US" sz="1100" dirty="0">
                <a:solidFill>
                  <a:srgbClr val="5F6670"/>
                </a:solidFill>
                <a:latin typeface="Arial" pitchFamily="34" charset="0"/>
                <a:ea typeface="Arial" pitchFamily="34" charset="-122"/>
                <a:cs typeface="Arial" pitchFamily="34" charset="-120"/>
              </a:rPr>
              <a:t>4</a:t>
            </a:r>
            <a:endParaRPr lang="en-US" sz="1100" dirty="0"/>
          </a:p>
        </p:txBody>
      </p:sp>
      <p:sp>
        <p:nvSpPr>
          <p:cNvPr id="7" name="Shape 4"/>
          <p:cNvSpPr/>
          <p:nvPr/>
        </p:nvSpPr>
        <p:spPr>
          <a:xfrm>
            <a:off x="548640" y="1325880"/>
            <a:ext cx="1920240" cy="868680"/>
          </a:xfrm>
          <a:prstGeom prst="rect">
            <a:avLst/>
          </a:prstGeom>
          <a:solidFill>
            <a:srgbClr val="FFFFFF"/>
          </a:solidFill>
          <a:ln w="12700">
            <a:solidFill>
              <a:srgbClr val="9AA1AA"/>
            </a:solidFill>
            <a:prstDash val="solid"/>
          </a:ln>
        </p:spPr>
      </p:sp>
      <p:sp>
        <p:nvSpPr>
          <p:cNvPr id="8" name="Text 5"/>
          <p:cNvSpPr/>
          <p:nvPr/>
        </p:nvSpPr>
        <p:spPr>
          <a:xfrm>
            <a:off x="548640" y="1325880"/>
            <a:ext cx="1920240" cy="868680"/>
          </a:xfrm>
          <a:prstGeom prst="rect">
            <a:avLst/>
          </a:prstGeom>
          <a:noFill/>
          <a:ln/>
        </p:spPr>
        <p:txBody>
          <a:bodyPr wrap="square" lIns="0" tIns="0" rIns="0" bIns="0" rtlCol="0" anchor="ctr"/>
          <a:lstStyle/>
          <a:p>
            <a:pPr marL="0" indent="0" algn="ctr">
              <a:buNone/>
            </a:pPr>
            <a:r>
              <a:rPr lang="en-US" sz="1500" dirty="0">
                <a:solidFill>
                  <a:srgbClr val="1F2328"/>
                </a:solidFill>
                <a:latin typeface="Arial" pitchFamily="34" charset="0"/>
                <a:ea typeface="Arial" pitchFamily="34" charset="-122"/>
                <a:cs typeface="Arial" pitchFamily="34" charset="-120"/>
              </a:rPr>
              <a:t>Initial balanced</a:t>
            </a:r>
            <a:endParaRPr lang="en-US" sz="1500" dirty="0"/>
          </a:p>
          <a:p>
            <a:pPr marL="0" indent="0" algn="ctr">
              <a:buNone/>
            </a:pPr>
            <a:r>
              <a:rPr lang="en-US" sz="1500" dirty="0">
                <a:solidFill>
                  <a:srgbClr val="1F2328"/>
                </a:solidFill>
                <a:latin typeface="Arial" pitchFamily="34" charset="0"/>
                <a:ea typeface="Arial" pitchFamily="34" charset="-122"/>
                <a:cs typeface="Arial" pitchFamily="34" charset="-120"/>
              </a:rPr>
              <a:t>sample</a:t>
            </a:r>
            <a:endParaRPr lang="en-US" sz="1500" dirty="0"/>
          </a:p>
        </p:txBody>
      </p:sp>
      <p:sp>
        <p:nvSpPr>
          <p:cNvPr id="9" name="Shape 6"/>
          <p:cNvSpPr/>
          <p:nvPr/>
        </p:nvSpPr>
        <p:spPr>
          <a:xfrm>
            <a:off x="2468880" y="1760220"/>
            <a:ext cx="373304" cy="0"/>
          </a:xfrm>
          <a:prstGeom prst="line">
            <a:avLst/>
          </a:prstGeom>
          <a:noFill/>
          <a:ln w="15875">
            <a:solidFill>
              <a:srgbClr val="1F2328"/>
            </a:solidFill>
            <a:prstDash val="solid"/>
            <a:tailEnd type="triangle"/>
          </a:ln>
        </p:spPr>
      </p:sp>
      <p:sp>
        <p:nvSpPr>
          <p:cNvPr id="10" name="Shape 7"/>
          <p:cNvSpPr/>
          <p:nvPr/>
        </p:nvSpPr>
        <p:spPr>
          <a:xfrm>
            <a:off x="2842184" y="1325880"/>
            <a:ext cx="1920240" cy="868680"/>
          </a:xfrm>
          <a:prstGeom prst="rect">
            <a:avLst/>
          </a:prstGeom>
          <a:solidFill>
            <a:srgbClr val="FFFFFF"/>
          </a:solidFill>
          <a:ln w="12700">
            <a:solidFill>
              <a:srgbClr val="9AA1AA"/>
            </a:solidFill>
            <a:prstDash val="solid"/>
          </a:ln>
        </p:spPr>
      </p:sp>
      <p:sp>
        <p:nvSpPr>
          <p:cNvPr id="11" name="Text 8"/>
          <p:cNvSpPr/>
          <p:nvPr/>
        </p:nvSpPr>
        <p:spPr>
          <a:xfrm>
            <a:off x="2842184" y="1325880"/>
            <a:ext cx="1920240" cy="868680"/>
          </a:xfrm>
          <a:prstGeom prst="rect">
            <a:avLst/>
          </a:prstGeom>
          <a:noFill/>
          <a:ln/>
        </p:spPr>
        <p:txBody>
          <a:bodyPr wrap="square" lIns="0" tIns="0" rIns="0" bIns="0" rtlCol="0" anchor="ctr"/>
          <a:lstStyle/>
          <a:p>
            <a:pPr marL="0" indent="0" algn="ctr">
              <a:buNone/>
            </a:pPr>
            <a:r>
              <a:rPr lang="en-US" sz="1500" dirty="0">
                <a:solidFill>
                  <a:srgbClr val="1F2328"/>
                </a:solidFill>
                <a:latin typeface="Arial" pitchFamily="34" charset="0"/>
                <a:ea typeface="Arial" pitchFamily="34" charset="-122"/>
                <a:cs typeface="Arial" pitchFamily="34" charset="-120"/>
              </a:rPr>
              <a:t>Train classifier</a:t>
            </a:r>
            <a:endParaRPr lang="en-US" sz="1500" dirty="0"/>
          </a:p>
        </p:txBody>
      </p:sp>
      <p:sp>
        <p:nvSpPr>
          <p:cNvPr id="12" name="Shape 9"/>
          <p:cNvSpPr/>
          <p:nvPr/>
        </p:nvSpPr>
        <p:spPr>
          <a:xfrm>
            <a:off x="4762424" y="1760220"/>
            <a:ext cx="373304" cy="0"/>
          </a:xfrm>
          <a:prstGeom prst="line">
            <a:avLst/>
          </a:prstGeom>
          <a:noFill/>
          <a:ln w="15875">
            <a:solidFill>
              <a:srgbClr val="1F2328"/>
            </a:solidFill>
            <a:prstDash val="solid"/>
            <a:tailEnd type="triangle"/>
          </a:ln>
        </p:spPr>
      </p:sp>
      <p:sp>
        <p:nvSpPr>
          <p:cNvPr id="13" name="Shape 10"/>
          <p:cNvSpPr/>
          <p:nvPr/>
        </p:nvSpPr>
        <p:spPr>
          <a:xfrm>
            <a:off x="5135728" y="1325880"/>
            <a:ext cx="1920240" cy="868680"/>
          </a:xfrm>
          <a:prstGeom prst="rect">
            <a:avLst/>
          </a:prstGeom>
          <a:solidFill>
            <a:srgbClr val="FFFFFF"/>
          </a:solidFill>
          <a:ln w="12700">
            <a:solidFill>
              <a:srgbClr val="9AA1AA"/>
            </a:solidFill>
            <a:prstDash val="solid"/>
          </a:ln>
        </p:spPr>
      </p:sp>
      <p:sp>
        <p:nvSpPr>
          <p:cNvPr id="14" name="Text 11"/>
          <p:cNvSpPr/>
          <p:nvPr/>
        </p:nvSpPr>
        <p:spPr>
          <a:xfrm>
            <a:off x="5135728" y="1325880"/>
            <a:ext cx="1920240" cy="868680"/>
          </a:xfrm>
          <a:prstGeom prst="rect">
            <a:avLst/>
          </a:prstGeom>
          <a:noFill/>
          <a:ln/>
        </p:spPr>
        <p:txBody>
          <a:bodyPr wrap="square" lIns="0" tIns="0" rIns="0" bIns="0" rtlCol="0" anchor="ctr"/>
          <a:lstStyle/>
          <a:p>
            <a:pPr marL="0" indent="0" algn="ctr">
              <a:buNone/>
            </a:pPr>
            <a:r>
              <a:rPr lang="en-US" sz="1500" dirty="0">
                <a:solidFill>
                  <a:srgbClr val="1F2328"/>
                </a:solidFill>
                <a:latin typeface="Arial" pitchFamily="34" charset="0"/>
                <a:ea typeface="Arial" pitchFamily="34" charset="-122"/>
                <a:cs typeface="Arial" pitchFamily="34" charset="-120"/>
              </a:rPr>
              <a:t>Estimate hardness H</a:t>
            </a:r>
            <a:endParaRPr lang="en-US" sz="1500" dirty="0"/>
          </a:p>
          <a:p>
            <a:pPr marL="0" indent="0" algn="ctr">
              <a:buNone/>
            </a:pPr>
            <a:r>
              <a:rPr lang="en-US" sz="1500" dirty="0">
                <a:solidFill>
                  <a:srgbClr val="1F2328"/>
                </a:solidFill>
                <a:latin typeface="Arial" pitchFamily="34" charset="0"/>
                <a:ea typeface="Arial" pitchFamily="34" charset="-122"/>
                <a:cs typeface="Arial" pitchFamily="34" charset="-120"/>
              </a:rPr>
              <a:t>of every genuine row</a:t>
            </a:r>
            <a:endParaRPr lang="en-US" sz="1500" dirty="0"/>
          </a:p>
        </p:txBody>
      </p:sp>
      <p:sp>
        <p:nvSpPr>
          <p:cNvPr id="15" name="Shape 12"/>
          <p:cNvSpPr/>
          <p:nvPr/>
        </p:nvSpPr>
        <p:spPr>
          <a:xfrm>
            <a:off x="7055968" y="1760220"/>
            <a:ext cx="373304" cy="0"/>
          </a:xfrm>
          <a:prstGeom prst="line">
            <a:avLst/>
          </a:prstGeom>
          <a:noFill/>
          <a:ln w="15875">
            <a:solidFill>
              <a:srgbClr val="1F2328"/>
            </a:solidFill>
            <a:prstDash val="solid"/>
            <a:tailEnd type="triangle"/>
          </a:ln>
        </p:spPr>
      </p:sp>
      <p:sp>
        <p:nvSpPr>
          <p:cNvPr id="16" name="Shape 13"/>
          <p:cNvSpPr/>
          <p:nvPr/>
        </p:nvSpPr>
        <p:spPr>
          <a:xfrm>
            <a:off x="7429271" y="1325880"/>
            <a:ext cx="1920240" cy="868680"/>
          </a:xfrm>
          <a:prstGeom prst="rect">
            <a:avLst/>
          </a:prstGeom>
          <a:solidFill>
            <a:srgbClr val="FFFFFF"/>
          </a:solidFill>
          <a:ln w="12700">
            <a:solidFill>
              <a:srgbClr val="9AA1AA"/>
            </a:solidFill>
            <a:prstDash val="solid"/>
          </a:ln>
        </p:spPr>
      </p:sp>
      <p:sp>
        <p:nvSpPr>
          <p:cNvPr id="17" name="Text 14"/>
          <p:cNvSpPr/>
          <p:nvPr/>
        </p:nvSpPr>
        <p:spPr>
          <a:xfrm>
            <a:off x="7429271" y="1325880"/>
            <a:ext cx="1920240" cy="868680"/>
          </a:xfrm>
          <a:prstGeom prst="rect">
            <a:avLst/>
          </a:prstGeom>
          <a:noFill/>
          <a:ln/>
        </p:spPr>
        <p:txBody>
          <a:bodyPr wrap="square" lIns="0" tIns="0" rIns="0" bIns="0" rtlCol="0" anchor="ctr"/>
          <a:lstStyle/>
          <a:p>
            <a:pPr marL="0" indent="0" algn="ctr">
              <a:buNone/>
            </a:pPr>
            <a:r>
              <a:rPr lang="en-US" sz="1500" dirty="0">
                <a:solidFill>
                  <a:srgbClr val="1F2328"/>
                </a:solidFill>
                <a:latin typeface="Arial" pitchFamily="34" charset="0"/>
                <a:ea typeface="Arial" pitchFamily="34" charset="-122"/>
                <a:cs typeface="Arial" pitchFamily="34" charset="-120"/>
              </a:rPr>
              <a:t>Divide genuine rows</a:t>
            </a:r>
            <a:endParaRPr lang="en-US" sz="1500" dirty="0"/>
          </a:p>
          <a:p>
            <a:pPr marL="0" indent="0" algn="ctr">
              <a:buNone/>
            </a:pPr>
            <a:r>
              <a:rPr lang="en-US" sz="1500" dirty="0">
                <a:solidFill>
                  <a:srgbClr val="1F2328"/>
                </a:solidFill>
                <a:latin typeface="Arial" pitchFamily="34" charset="0"/>
                <a:ea typeface="Arial" pitchFamily="34" charset="-122"/>
                <a:cs typeface="Arial" pitchFamily="34" charset="-120"/>
              </a:rPr>
              <a:t>into 20 hardness bins</a:t>
            </a:r>
            <a:endParaRPr lang="en-US" sz="1500" dirty="0"/>
          </a:p>
        </p:txBody>
      </p:sp>
      <p:sp>
        <p:nvSpPr>
          <p:cNvPr id="18" name="Shape 15"/>
          <p:cNvSpPr/>
          <p:nvPr/>
        </p:nvSpPr>
        <p:spPr>
          <a:xfrm>
            <a:off x="9349511" y="1760220"/>
            <a:ext cx="373304" cy="0"/>
          </a:xfrm>
          <a:prstGeom prst="line">
            <a:avLst/>
          </a:prstGeom>
          <a:noFill/>
          <a:ln w="15875">
            <a:solidFill>
              <a:srgbClr val="1F2328"/>
            </a:solidFill>
            <a:prstDash val="solid"/>
            <a:tailEnd type="triangle"/>
          </a:ln>
        </p:spPr>
      </p:sp>
      <p:sp>
        <p:nvSpPr>
          <p:cNvPr id="19" name="Shape 16"/>
          <p:cNvSpPr/>
          <p:nvPr/>
        </p:nvSpPr>
        <p:spPr>
          <a:xfrm>
            <a:off x="9722815" y="1325880"/>
            <a:ext cx="1920240" cy="868680"/>
          </a:xfrm>
          <a:prstGeom prst="rect">
            <a:avLst/>
          </a:prstGeom>
          <a:solidFill>
            <a:srgbClr val="FFFFFF"/>
          </a:solidFill>
          <a:ln w="12700">
            <a:solidFill>
              <a:srgbClr val="9AA1AA"/>
            </a:solidFill>
            <a:prstDash val="solid"/>
          </a:ln>
        </p:spPr>
      </p:sp>
      <p:sp>
        <p:nvSpPr>
          <p:cNvPr id="20" name="Text 17"/>
          <p:cNvSpPr/>
          <p:nvPr/>
        </p:nvSpPr>
        <p:spPr>
          <a:xfrm>
            <a:off x="9722815" y="1325880"/>
            <a:ext cx="1920240" cy="868680"/>
          </a:xfrm>
          <a:prstGeom prst="rect">
            <a:avLst/>
          </a:prstGeom>
          <a:noFill/>
          <a:ln/>
        </p:spPr>
        <p:txBody>
          <a:bodyPr wrap="square" lIns="0" tIns="0" rIns="0" bIns="0" rtlCol="0" anchor="ctr"/>
          <a:lstStyle/>
          <a:p>
            <a:pPr marL="0" indent="0" algn="ctr">
              <a:buNone/>
            </a:pPr>
            <a:r>
              <a:rPr lang="en-US" sz="1500" dirty="0">
                <a:solidFill>
                  <a:srgbClr val="1F2328"/>
                </a:solidFill>
                <a:latin typeface="Arial" pitchFamily="34" charset="0"/>
                <a:ea typeface="Arial" pitchFamily="34" charset="-122"/>
                <a:cs typeface="Arial" pitchFamily="34" charset="-120"/>
              </a:rPr>
              <a:t>Allocate the 284-row</a:t>
            </a:r>
            <a:endParaRPr lang="en-US" sz="1500" dirty="0"/>
          </a:p>
          <a:p>
            <a:pPr marL="0" indent="0" algn="ctr">
              <a:buNone/>
            </a:pPr>
            <a:r>
              <a:rPr lang="en-US" sz="1500" dirty="0">
                <a:solidFill>
                  <a:srgbClr val="1F2328"/>
                </a:solidFill>
                <a:latin typeface="Arial" pitchFamily="34" charset="0"/>
                <a:ea typeface="Arial" pitchFamily="34" charset="-122"/>
                <a:cs typeface="Arial" pitchFamily="34" charset="-120"/>
              </a:rPr>
              <a:t>budget across bins</a:t>
            </a:r>
            <a:endParaRPr lang="en-US" sz="1500" dirty="0"/>
          </a:p>
        </p:txBody>
      </p:sp>
      <p:sp>
        <p:nvSpPr>
          <p:cNvPr id="21" name="Shape 18"/>
          <p:cNvSpPr/>
          <p:nvPr/>
        </p:nvSpPr>
        <p:spPr>
          <a:xfrm>
            <a:off x="9722815" y="2971800"/>
            <a:ext cx="1920240" cy="868680"/>
          </a:xfrm>
          <a:prstGeom prst="rect">
            <a:avLst/>
          </a:prstGeom>
          <a:solidFill>
            <a:srgbClr val="EEF2F7"/>
          </a:solidFill>
          <a:ln w="25400">
            <a:solidFill>
              <a:srgbClr val="1F3A5F"/>
            </a:solidFill>
            <a:prstDash val="solid"/>
          </a:ln>
        </p:spPr>
      </p:sp>
      <p:sp>
        <p:nvSpPr>
          <p:cNvPr id="22" name="Text 19"/>
          <p:cNvSpPr/>
          <p:nvPr/>
        </p:nvSpPr>
        <p:spPr>
          <a:xfrm>
            <a:off x="9722815" y="2971800"/>
            <a:ext cx="1920240" cy="868680"/>
          </a:xfrm>
          <a:prstGeom prst="rect">
            <a:avLst/>
          </a:prstGeom>
          <a:noFill/>
          <a:ln/>
        </p:spPr>
        <p:txBody>
          <a:bodyPr wrap="square" lIns="0" tIns="0" rIns="0" bIns="0" rtlCol="0" anchor="ctr"/>
          <a:lstStyle/>
          <a:p>
            <a:pPr marL="0" indent="0" algn="ctr">
              <a:buNone/>
            </a:pPr>
            <a:r>
              <a:rPr lang="en-US" sz="1500" b="1" dirty="0">
                <a:solidFill>
                  <a:srgbClr val="1F3A5F"/>
                </a:solidFill>
                <a:latin typeface="Arial" pitchFamily="34" charset="0"/>
                <a:ea typeface="Arial" pitchFamily="34" charset="-122"/>
                <a:cs typeface="Arial" pitchFamily="34" charset="-120"/>
              </a:rPr>
              <a:t>Select genuine rows</a:t>
            </a:r>
            <a:endParaRPr lang="en-US" sz="1500" dirty="0"/>
          </a:p>
          <a:p>
            <a:pPr marL="0" indent="0" algn="ctr">
              <a:buNone/>
            </a:pPr>
            <a:r>
              <a:rPr lang="en-US" sz="1500" b="1" dirty="0">
                <a:solidFill>
                  <a:srgbClr val="1F3A5F"/>
                </a:solidFill>
                <a:latin typeface="Arial" pitchFamily="34" charset="0"/>
                <a:ea typeface="Arial" pitchFamily="34" charset="-122"/>
                <a:cs typeface="Arial" pitchFamily="34" charset="-120"/>
              </a:rPr>
              <a:t>inside each bin</a:t>
            </a:r>
            <a:endParaRPr lang="en-US" sz="1500" dirty="0"/>
          </a:p>
        </p:txBody>
      </p:sp>
      <p:sp>
        <p:nvSpPr>
          <p:cNvPr id="23" name="Shape 20"/>
          <p:cNvSpPr/>
          <p:nvPr/>
        </p:nvSpPr>
        <p:spPr>
          <a:xfrm>
            <a:off x="10682935" y="2194560"/>
            <a:ext cx="0" cy="777240"/>
          </a:xfrm>
          <a:prstGeom prst="line">
            <a:avLst/>
          </a:prstGeom>
          <a:noFill/>
          <a:ln w="15875">
            <a:solidFill>
              <a:srgbClr val="1F2328"/>
            </a:solidFill>
            <a:prstDash val="solid"/>
            <a:tailEnd type="triangle"/>
          </a:ln>
        </p:spPr>
      </p:sp>
      <p:sp>
        <p:nvSpPr>
          <p:cNvPr id="24" name="Shape 21"/>
          <p:cNvSpPr/>
          <p:nvPr/>
        </p:nvSpPr>
        <p:spPr>
          <a:xfrm>
            <a:off x="7429271" y="2971800"/>
            <a:ext cx="1920240" cy="868680"/>
          </a:xfrm>
          <a:prstGeom prst="rect">
            <a:avLst/>
          </a:prstGeom>
          <a:solidFill>
            <a:srgbClr val="FFFFFF"/>
          </a:solidFill>
          <a:ln w="12700">
            <a:solidFill>
              <a:srgbClr val="9AA1AA"/>
            </a:solidFill>
            <a:prstDash val="solid"/>
          </a:ln>
        </p:spPr>
      </p:sp>
      <p:sp>
        <p:nvSpPr>
          <p:cNvPr id="25" name="Text 22"/>
          <p:cNvSpPr/>
          <p:nvPr/>
        </p:nvSpPr>
        <p:spPr>
          <a:xfrm>
            <a:off x="7429271" y="2971800"/>
            <a:ext cx="1920240" cy="868680"/>
          </a:xfrm>
          <a:prstGeom prst="rect">
            <a:avLst/>
          </a:prstGeom>
          <a:noFill/>
          <a:ln/>
        </p:spPr>
        <p:txBody>
          <a:bodyPr wrap="square" lIns="0" tIns="0" rIns="0" bIns="0" rtlCol="0" anchor="ctr"/>
          <a:lstStyle/>
          <a:p>
            <a:pPr marL="0" indent="0" algn="ctr">
              <a:buNone/>
            </a:pPr>
            <a:r>
              <a:rPr lang="en-US" sz="1500" dirty="0">
                <a:solidFill>
                  <a:srgbClr val="1F2328"/>
                </a:solidFill>
                <a:latin typeface="Arial" pitchFamily="34" charset="0"/>
                <a:ea typeface="Arial" pitchFamily="34" charset="-122"/>
                <a:cs typeface="Arial" pitchFamily="34" charset="-120"/>
              </a:rPr>
              <a:t>Train the next</a:t>
            </a:r>
            <a:endParaRPr lang="en-US" sz="1500" dirty="0"/>
          </a:p>
          <a:p>
            <a:pPr marL="0" indent="0" algn="ctr">
              <a:buNone/>
            </a:pPr>
            <a:r>
              <a:rPr lang="en-US" sz="1500" dirty="0">
                <a:solidFill>
                  <a:srgbClr val="1F2328"/>
                </a:solidFill>
                <a:latin typeface="Arial" pitchFamily="34" charset="0"/>
                <a:ea typeface="Arial" pitchFamily="34" charset="-122"/>
                <a:cs typeface="Arial" pitchFamily="34" charset="-120"/>
              </a:rPr>
              <a:t>classifier</a:t>
            </a:r>
            <a:endParaRPr lang="en-US" sz="1500" dirty="0"/>
          </a:p>
        </p:txBody>
      </p:sp>
      <p:sp>
        <p:nvSpPr>
          <p:cNvPr id="26" name="Shape 23"/>
          <p:cNvSpPr/>
          <p:nvPr/>
        </p:nvSpPr>
        <p:spPr>
          <a:xfrm flipH="1">
            <a:off x="9349511" y="3406140"/>
            <a:ext cx="373304" cy="0"/>
          </a:xfrm>
          <a:prstGeom prst="line">
            <a:avLst/>
          </a:prstGeom>
          <a:noFill/>
          <a:ln w="15875">
            <a:solidFill>
              <a:srgbClr val="1F2328"/>
            </a:solidFill>
            <a:prstDash val="solid"/>
            <a:tailEnd type="triangle"/>
          </a:ln>
        </p:spPr>
      </p:sp>
      <p:sp>
        <p:nvSpPr>
          <p:cNvPr id="27" name="Shape 24"/>
          <p:cNvSpPr/>
          <p:nvPr/>
        </p:nvSpPr>
        <p:spPr>
          <a:xfrm>
            <a:off x="5135728" y="2971800"/>
            <a:ext cx="1920240" cy="868680"/>
          </a:xfrm>
          <a:prstGeom prst="rect">
            <a:avLst/>
          </a:prstGeom>
          <a:solidFill>
            <a:srgbClr val="FFFFFF"/>
          </a:solidFill>
          <a:ln w="12700">
            <a:solidFill>
              <a:srgbClr val="9AA1AA"/>
            </a:solidFill>
            <a:prstDash val="solid"/>
          </a:ln>
        </p:spPr>
      </p:sp>
      <p:sp>
        <p:nvSpPr>
          <p:cNvPr id="28" name="Text 25"/>
          <p:cNvSpPr/>
          <p:nvPr/>
        </p:nvSpPr>
        <p:spPr>
          <a:xfrm>
            <a:off x="5135728" y="2971800"/>
            <a:ext cx="1920240" cy="868680"/>
          </a:xfrm>
          <a:prstGeom prst="rect">
            <a:avLst/>
          </a:prstGeom>
          <a:noFill/>
          <a:ln/>
        </p:spPr>
        <p:txBody>
          <a:bodyPr wrap="square" lIns="0" tIns="0" rIns="0" bIns="0" rtlCol="0" anchor="ctr"/>
          <a:lstStyle/>
          <a:p>
            <a:pPr marL="0" indent="0" algn="ctr">
              <a:buNone/>
            </a:pPr>
            <a:r>
              <a:rPr lang="en-US" sz="1500" dirty="0">
                <a:solidFill>
                  <a:srgbClr val="1F2328"/>
                </a:solidFill>
                <a:latin typeface="Arial" pitchFamily="34" charset="0"/>
                <a:ea typeface="Arial" pitchFamily="34" charset="-122"/>
                <a:cs typeface="Arial" pitchFamily="34" charset="-120"/>
              </a:rPr>
              <a:t>Repeat until 10</a:t>
            </a:r>
            <a:endParaRPr lang="en-US" sz="1500" dirty="0"/>
          </a:p>
          <a:p>
            <a:pPr marL="0" indent="0" algn="ctr">
              <a:buNone/>
            </a:pPr>
            <a:r>
              <a:rPr lang="en-US" sz="1500" dirty="0">
                <a:solidFill>
                  <a:srgbClr val="1F2328"/>
                </a:solidFill>
                <a:latin typeface="Arial" pitchFamily="34" charset="0"/>
                <a:ea typeface="Arial" pitchFamily="34" charset="-122"/>
                <a:cs typeface="Arial" pitchFamily="34" charset="-120"/>
              </a:rPr>
              <a:t>classifiers</a:t>
            </a:r>
            <a:endParaRPr lang="en-US" sz="1500" dirty="0"/>
          </a:p>
        </p:txBody>
      </p:sp>
      <p:sp>
        <p:nvSpPr>
          <p:cNvPr id="29" name="Shape 26"/>
          <p:cNvSpPr/>
          <p:nvPr/>
        </p:nvSpPr>
        <p:spPr>
          <a:xfrm flipH="1">
            <a:off x="7055968" y="3406140"/>
            <a:ext cx="373304" cy="0"/>
          </a:xfrm>
          <a:prstGeom prst="line">
            <a:avLst/>
          </a:prstGeom>
          <a:noFill/>
          <a:ln w="15875">
            <a:solidFill>
              <a:srgbClr val="1F2328"/>
            </a:solidFill>
            <a:prstDash val="solid"/>
            <a:tailEnd type="triangle"/>
          </a:ln>
        </p:spPr>
      </p:sp>
      <p:sp>
        <p:nvSpPr>
          <p:cNvPr id="30" name="Shape 27"/>
          <p:cNvSpPr/>
          <p:nvPr/>
        </p:nvSpPr>
        <p:spPr>
          <a:xfrm flipV="1">
            <a:off x="6095848" y="2194560"/>
            <a:ext cx="0" cy="777240"/>
          </a:xfrm>
          <a:prstGeom prst="line">
            <a:avLst/>
          </a:prstGeom>
          <a:noFill/>
          <a:ln w="15875">
            <a:solidFill>
              <a:srgbClr val="1F2328"/>
            </a:solidFill>
            <a:prstDash val="solid"/>
            <a:tailEnd type="triangle"/>
          </a:ln>
        </p:spPr>
      </p:sp>
      <p:sp>
        <p:nvSpPr>
          <p:cNvPr id="31" name="Text 28"/>
          <p:cNvSpPr/>
          <p:nvPr/>
        </p:nvSpPr>
        <p:spPr>
          <a:xfrm>
            <a:off x="6169000" y="2395728"/>
            <a:ext cx="1188720" cy="320040"/>
          </a:xfrm>
          <a:prstGeom prst="rect">
            <a:avLst/>
          </a:prstGeom>
          <a:noFill/>
          <a:ln/>
        </p:spPr>
        <p:txBody>
          <a:bodyPr wrap="square" lIns="0" tIns="0" rIns="0" bIns="0" rtlCol="0" anchor="t"/>
          <a:lstStyle/>
          <a:p>
            <a:pPr marL="0" indent="0">
              <a:buNone/>
            </a:pPr>
            <a:r>
              <a:rPr lang="en-US" sz="1300" dirty="0">
                <a:solidFill>
                  <a:srgbClr val="5F6670"/>
                </a:solidFill>
                <a:latin typeface="Arial" pitchFamily="34" charset="0"/>
                <a:ea typeface="Arial" pitchFamily="34" charset="-122"/>
                <a:cs typeface="Arial" pitchFamily="34" charset="-120"/>
              </a:rPr>
              <a:t>next round</a:t>
            </a:r>
            <a:endParaRPr lang="en-US" sz="1300" dirty="0"/>
          </a:p>
        </p:txBody>
      </p:sp>
      <p:sp>
        <p:nvSpPr>
          <p:cNvPr id="32" name="Shape 29"/>
          <p:cNvSpPr/>
          <p:nvPr/>
        </p:nvSpPr>
        <p:spPr>
          <a:xfrm>
            <a:off x="2842184" y="2971800"/>
            <a:ext cx="1920240" cy="868680"/>
          </a:xfrm>
          <a:prstGeom prst="rect">
            <a:avLst/>
          </a:prstGeom>
          <a:solidFill>
            <a:srgbClr val="FFFFFF"/>
          </a:solidFill>
          <a:ln w="12700">
            <a:solidFill>
              <a:srgbClr val="9AA1AA"/>
            </a:solidFill>
            <a:prstDash val="solid"/>
          </a:ln>
        </p:spPr>
      </p:sp>
      <p:sp>
        <p:nvSpPr>
          <p:cNvPr id="33" name="Text 30"/>
          <p:cNvSpPr/>
          <p:nvPr/>
        </p:nvSpPr>
        <p:spPr>
          <a:xfrm>
            <a:off x="2842184" y="2971800"/>
            <a:ext cx="1920240" cy="868680"/>
          </a:xfrm>
          <a:prstGeom prst="rect">
            <a:avLst/>
          </a:prstGeom>
          <a:noFill/>
          <a:ln/>
        </p:spPr>
        <p:txBody>
          <a:bodyPr wrap="square" lIns="0" tIns="0" rIns="0" bIns="0" rtlCol="0" anchor="ctr"/>
          <a:lstStyle/>
          <a:p>
            <a:pPr marL="0" indent="0" algn="ctr">
              <a:buNone/>
            </a:pPr>
            <a:r>
              <a:rPr lang="en-US" sz="1500" dirty="0">
                <a:solidFill>
                  <a:srgbClr val="1F2328"/>
                </a:solidFill>
                <a:latin typeface="Arial" pitchFamily="34" charset="0"/>
                <a:ea typeface="Arial" pitchFamily="34" charset="-122"/>
                <a:cs typeface="Arial" pitchFamily="34" charset="-120"/>
              </a:rPr>
              <a:t>Average the 10</a:t>
            </a:r>
            <a:endParaRPr lang="en-US" sz="1500" dirty="0"/>
          </a:p>
          <a:p>
            <a:pPr marL="0" indent="0" algn="ctr">
              <a:buNone/>
            </a:pPr>
            <a:r>
              <a:rPr lang="en-US" sz="1500" dirty="0">
                <a:solidFill>
                  <a:srgbClr val="1F2328"/>
                </a:solidFill>
                <a:latin typeface="Arial" pitchFamily="34" charset="0"/>
                <a:ea typeface="Arial" pitchFamily="34" charset="-122"/>
                <a:cs typeface="Arial" pitchFamily="34" charset="-120"/>
              </a:rPr>
              <a:t>predicted probabilities</a:t>
            </a:r>
            <a:endParaRPr lang="en-US" sz="1500" dirty="0"/>
          </a:p>
        </p:txBody>
      </p:sp>
      <p:sp>
        <p:nvSpPr>
          <p:cNvPr id="34" name="Shape 31"/>
          <p:cNvSpPr/>
          <p:nvPr/>
        </p:nvSpPr>
        <p:spPr>
          <a:xfrm flipH="1">
            <a:off x="4762424" y="3406140"/>
            <a:ext cx="373304" cy="0"/>
          </a:xfrm>
          <a:prstGeom prst="line">
            <a:avLst/>
          </a:prstGeom>
          <a:noFill/>
          <a:ln w="15875">
            <a:solidFill>
              <a:srgbClr val="1F2328"/>
            </a:solidFill>
            <a:prstDash val="solid"/>
            <a:tailEnd type="triangle"/>
          </a:ln>
        </p:spPr>
      </p:sp>
      <p:sp>
        <p:nvSpPr>
          <p:cNvPr id="35" name="Text 32"/>
          <p:cNvSpPr/>
          <p:nvPr/>
        </p:nvSpPr>
        <p:spPr>
          <a:xfrm>
            <a:off x="4762424" y="3076956"/>
            <a:ext cx="373304" cy="274320"/>
          </a:xfrm>
          <a:prstGeom prst="rect">
            <a:avLst/>
          </a:prstGeom>
          <a:noFill/>
          <a:ln/>
        </p:spPr>
        <p:txBody>
          <a:bodyPr wrap="square" lIns="0" tIns="0" rIns="0" bIns="0" rtlCol="0" anchor="t"/>
          <a:lstStyle/>
          <a:p>
            <a:pPr marL="0" indent="0" algn="ctr">
              <a:buNone/>
            </a:pPr>
            <a:r>
              <a:rPr lang="en-US" sz="1300" dirty="0">
                <a:solidFill>
                  <a:srgbClr val="5F6670"/>
                </a:solidFill>
                <a:latin typeface="Arial" pitchFamily="34" charset="0"/>
                <a:ea typeface="Arial" pitchFamily="34" charset="-122"/>
                <a:cs typeface="Arial" pitchFamily="34" charset="-120"/>
              </a:rPr>
              <a:t>done</a:t>
            </a:r>
            <a:endParaRPr lang="en-US" sz="1300" dirty="0"/>
          </a:p>
        </p:txBody>
      </p:sp>
      <p:sp>
        <p:nvSpPr>
          <p:cNvPr id="36" name="Text 33"/>
          <p:cNvSpPr/>
          <p:nvPr/>
        </p:nvSpPr>
        <p:spPr>
          <a:xfrm>
            <a:off x="8442655" y="3931920"/>
            <a:ext cx="3200400" cy="320040"/>
          </a:xfrm>
          <a:prstGeom prst="rect">
            <a:avLst/>
          </a:prstGeom>
          <a:noFill/>
          <a:ln/>
        </p:spPr>
        <p:txBody>
          <a:bodyPr wrap="square" lIns="0" tIns="0" rIns="0" bIns="0" rtlCol="0" anchor="t"/>
          <a:lstStyle/>
          <a:p>
            <a:pPr marL="0" indent="0" algn="r">
              <a:buNone/>
            </a:pPr>
            <a:r>
              <a:rPr lang="en-US" sz="1500" b="1" dirty="0">
                <a:solidFill>
                  <a:srgbClr val="1F3A5F"/>
                </a:solidFill>
                <a:latin typeface="Arial" pitchFamily="34" charset="0"/>
                <a:ea typeface="Arial" pitchFamily="34" charset="-122"/>
                <a:cs typeface="Arial" pitchFamily="34" charset="-120"/>
              </a:rPr>
              <a:t>UA-SPE changes only this step</a:t>
            </a:r>
            <a:endParaRPr lang="en-US" sz="1500" dirty="0"/>
          </a:p>
        </p:txBody>
      </p:sp>
      <p:sp>
        <p:nvSpPr>
          <p:cNvPr id="37" name="Shape 34"/>
          <p:cNvSpPr/>
          <p:nvPr/>
        </p:nvSpPr>
        <p:spPr>
          <a:xfrm>
            <a:off x="548640" y="4434840"/>
            <a:ext cx="11094415" cy="0"/>
          </a:xfrm>
          <a:prstGeom prst="line">
            <a:avLst/>
          </a:prstGeom>
          <a:noFill/>
          <a:ln w="9525">
            <a:solidFill>
              <a:srgbClr val="E3E6EA"/>
            </a:solidFill>
            <a:prstDash val="solid"/>
          </a:ln>
        </p:spPr>
      </p:sp>
      <p:sp>
        <p:nvSpPr>
          <p:cNvPr id="38" name="Text 35"/>
          <p:cNvSpPr/>
          <p:nvPr/>
        </p:nvSpPr>
        <p:spPr>
          <a:xfrm>
            <a:off x="548640" y="4617720"/>
            <a:ext cx="5486400" cy="365760"/>
          </a:xfrm>
          <a:prstGeom prst="rect">
            <a:avLst/>
          </a:prstGeom>
          <a:noFill/>
          <a:ln/>
        </p:spPr>
        <p:txBody>
          <a:bodyPr wrap="square" lIns="0" tIns="0" rIns="0" bIns="0" rtlCol="0" anchor="t"/>
          <a:lstStyle/>
          <a:p>
            <a:pPr marL="0" indent="0">
              <a:buNone/>
            </a:pPr>
            <a:r>
              <a:rPr lang="en-US" sz="2000" dirty="0">
                <a:solidFill>
                  <a:srgbClr val="1F2328"/>
                </a:solidFill>
                <a:latin typeface="Arial" pitchFamily="34" charset="0"/>
                <a:ea typeface="Arial" pitchFamily="34" charset="-122"/>
                <a:cs typeface="Arial" pitchFamily="34" charset="-120"/>
              </a:rPr>
              <a:t>Budget per bin is proportional to the bin weight:</a:t>
            </a:r>
            <a:endParaRPr lang="en-US" sz="2000" dirty="0"/>
          </a:p>
        </p:txBody>
      </p:sp>
      <p:pic>
        <p:nvPicPr>
          <p:cNvPr id="39" name="Image 0" descr="/home/claude/work/deck2/eq/weight.png"/>
          <p:cNvPicPr>
            <a:picLocks noChangeAspect="1"/>
          </p:cNvPicPr>
          <p:nvPr/>
        </p:nvPicPr>
        <p:blipFill>
          <a:blip r:embed="rId3"/>
          <a:stretch>
            <a:fillRect/>
          </a:stretch>
        </p:blipFill>
        <p:spPr>
          <a:xfrm>
            <a:off x="548640" y="5166360"/>
            <a:ext cx="4111752" cy="723900"/>
          </a:xfrm>
          <a:prstGeom prst="rect">
            <a:avLst/>
          </a:prstGeom>
        </p:spPr>
      </p:pic>
      <p:sp>
        <p:nvSpPr>
          <p:cNvPr id="40" name="Text 36"/>
          <p:cNvSpPr/>
          <p:nvPr/>
        </p:nvSpPr>
        <p:spPr>
          <a:xfrm>
            <a:off x="6309360" y="4617720"/>
            <a:ext cx="5330952" cy="1645920"/>
          </a:xfrm>
          <a:prstGeom prst="rect">
            <a:avLst/>
          </a:prstGeom>
          <a:noFill/>
          <a:ln/>
        </p:spPr>
        <p:txBody>
          <a:bodyPr wrap="square" lIns="0" tIns="0" rIns="0" bIns="0" rtlCol="0" anchor="t"/>
          <a:lstStyle/>
          <a:p>
            <a:pPr marL="0" indent="0">
              <a:spcAft>
                <a:spcPts val="800"/>
              </a:spcAft>
              <a:buNone/>
            </a:pPr>
            <a:r>
              <a:rPr lang="en-US" sz="1800" i="1" dirty="0">
                <a:solidFill>
                  <a:srgbClr val="1F2328"/>
                </a:solidFill>
                <a:latin typeface="Arial" pitchFamily="34" charset="0"/>
                <a:ea typeface="Arial" pitchFamily="34" charset="-122"/>
                <a:cs typeface="Arial" pitchFamily="34" charset="-120"/>
              </a:rPr>
              <a:t>h</a:t>
            </a:r>
            <a:r>
              <a:rPr lang="en-US" sz="1800" i="1" baseline="-40000" dirty="0">
                <a:solidFill>
                  <a:srgbClr val="1F2328"/>
                </a:solidFill>
                <a:latin typeface="Arial" pitchFamily="34" charset="0"/>
                <a:ea typeface="Arial" pitchFamily="34" charset="-122"/>
                <a:cs typeface="Arial" pitchFamily="34" charset="-120"/>
              </a:rPr>
              <a:t>l</a:t>
            </a:r>
            <a:r>
              <a:rPr lang="en-US" sz="1800" dirty="0">
                <a:solidFill>
                  <a:srgbClr val="1F2328"/>
                </a:solidFill>
                <a:latin typeface="Arial" pitchFamily="34" charset="0"/>
                <a:ea typeface="Arial" pitchFamily="34" charset="-122"/>
                <a:cs typeface="Arial" pitchFamily="34" charset="-120"/>
              </a:rPr>
              <a:t> = average hardness of the rows in bin l</a:t>
            </a:r>
            <a:endParaRPr lang="en-US" sz="1800" dirty="0"/>
          </a:p>
          <a:p>
            <a:pPr marL="0" indent="0">
              <a:spcAft>
                <a:spcPts val="800"/>
              </a:spcAft>
              <a:buNone/>
            </a:pPr>
            <a:r>
              <a:rPr lang="en-US" sz="1800" i="1" dirty="0">
                <a:solidFill>
                  <a:srgbClr val="1F2328"/>
                </a:solidFill>
                <a:latin typeface="Arial" pitchFamily="34" charset="0"/>
                <a:ea typeface="Arial" pitchFamily="34" charset="-122"/>
                <a:cs typeface="Arial" pitchFamily="34" charset="-120"/>
              </a:rPr>
              <a:t>α</a:t>
            </a:r>
            <a:r>
              <a:rPr lang="en-US" sz="1800" i="1" baseline="-40000" dirty="0">
                <a:solidFill>
                  <a:srgbClr val="1F2328"/>
                </a:solidFill>
                <a:latin typeface="Arial" pitchFamily="34" charset="0"/>
                <a:ea typeface="Arial" pitchFamily="34" charset="-122"/>
                <a:cs typeface="Arial" pitchFamily="34" charset="-120"/>
              </a:rPr>
              <a:t>i</a:t>
            </a:r>
            <a:r>
              <a:rPr lang="en-US" sz="1800" dirty="0">
                <a:solidFill>
                  <a:srgbClr val="1F2328"/>
                </a:solidFill>
                <a:latin typeface="Arial" pitchFamily="34" charset="0"/>
                <a:ea typeface="Arial" pitchFamily="34" charset="-122"/>
                <a:cs typeface="Arial" pitchFamily="34" charset="-120"/>
              </a:rPr>
              <a:t> grows from 0.16 to 6.31: later rounds give harder bins more rows</a:t>
            </a:r>
            <a:endParaRPr lang="en-US" sz="1800" dirty="0"/>
          </a:p>
          <a:p>
            <a:pPr marL="0" indent="0">
              <a:spcAft>
                <a:spcPts val="800"/>
              </a:spcAft>
              <a:buNone/>
            </a:pPr>
            <a:r>
              <a:rPr lang="en-US" sz="1800" dirty="0">
                <a:solidFill>
                  <a:srgbClr val="1F2328"/>
                </a:solidFill>
                <a:latin typeface="Arial" pitchFamily="34" charset="0"/>
                <a:ea typeface="Arial" pitchFamily="34" charset="-122"/>
                <a:cs typeface="Arial" pitchFamily="34" charset="-120"/>
              </a:rPr>
              <a:t>In SPE, rows inside a bin are then chosen uniformly</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4415" cy="731520"/>
          </a:xfrm>
          <a:prstGeom prst="rect">
            <a:avLst/>
          </a:prstGeom>
          <a:noFill/>
          <a:ln/>
        </p:spPr>
        <p:txBody>
          <a:bodyPr wrap="square" lIns="0" tIns="0" rIns="0" bIns="0" rtlCol="0" anchor="ctr"/>
          <a:lstStyle/>
          <a:p>
            <a:pPr marL="0" indent="0">
              <a:buNone/>
            </a:pPr>
            <a:r>
              <a:rPr lang="en-US" sz="3200" b="1" dirty="0">
                <a:solidFill>
                  <a:srgbClr val="1F3A5F"/>
                </a:solidFill>
                <a:latin typeface="Arial" pitchFamily="34" charset="0"/>
                <a:ea typeface="Arial" pitchFamily="34" charset="-122"/>
                <a:cs typeface="Arial" pitchFamily="34" charset="-120"/>
              </a:rPr>
              <a:t>Why we considered adding uncertainty</a:t>
            </a:r>
            <a:endParaRPr lang="en-US" sz="3200" dirty="0"/>
          </a:p>
        </p:txBody>
      </p:sp>
      <p:sp>
        <p:nvSpPr>
          <p:cNvPr id="3" name="Shape 1"/>
          <p:cNvSpPr/>
          <p:nvPr/>
        </p:nvSpPr>
        <p:spPr>
          <a:xfrm>
            <a:off x="548640" y="6355080"/>
            <a:ext cx="11094415" cy="0"/>
          </a:xfrm>
          <a:prstGeom prst="line">
            <a:avLst/>
          </a:prstGeom>
          <a:noFill/>
          <a:ln w="9525">
            <a:solidFill>
              <a:srgbClr val="E3E6EA"/>
            </a:solidFill>
            <a:prstDash val="solid"/>
          </a:ln>
        </p:spPr>
      </p:sp>
      <p:sp>
        <p:nvSpPr>
          <p:cNvPr id="4" name="Text 2"/>
          <p:cNvSpPr/>
          <p:nvPr/>
        </p:nvSpPr>
        <p:spPr>
          <a:xfrm>
            <a:off x="548640" y="6400800"/>
            <a:ext cx="7315200" cy="274320"/>
          </a:xfrm>
          <a:prstGeom prst="rect">
            <a:avLst/>
          </a:prstGeom>
          <a:noFill/>
          <a:ln/>
        </p:spPr>
        <p:txBody>
          <a:bodyPr wrap="square" lIns="0" tIns="0" rIns="0" bIns="0" rtlCol="0" anchor="ctr"/>
          <a:lstStyle/>
          <a:p>
            <a:pPr marL="0" indent="0">
              <a:buNone/>
            </a:pPr>
            <a:r>
              <a:rPr lang="en-US" sz="1100" dirty="0">
                <a:solidFill>
                  <a:srgbClr val="5F6670"/>
                </a:solidFill>
                <a:latin typeface="Arial" pitchFamily="34" charset="0"/>
                <a:ea typeface="Arial" pitchFamily="34" charset="-122"/>
                <a:cs typeface="Arial" pitchFamily="34" charset="-120"/>
              </a:rPr>
              <a:t>DA 3011L · Uncertainty-Aware Self-Paced Ensemble</a:t>
            </a:r>
            <a:endParaRPr lang="en-US" sz="1100" dirty="0"/>
          </a:p>
        </p:txBody>
      </p:sp>
      <p:sp>
        <p:nvSpPr>
          <p:cNvPr id="5" name="Text 3"/>
          <p:cNvSpPr/>
          <p:nvPr/>
        </p:nvSpPr>
        <p:spPr>
          <a:xfrm>
            <a:off x="10728655" y="6400800"/>
            <a:ext cx="914400" cy="274320"/>
          </a:xfrm>
          <a:prstGeom prst="rect">
            <a:avLst/>
          </a:prstGeom>
          <a:noFill/>
          <a:ln/>
        </p:spPr>
        <p:txBody>
          <a:bodyPr wrap="square" lIns="0" tIns="0" rIns="0" bIns="0" rtlCol="0" anchor="ctr"/>
          <a:lstStyle/>
          <a:p>
            <a:pPr marL="0" indent="0" algn="r">
              <a:buNone/>
            </a:pPr>
            <a:r>
              <a:rPr lang="en-US" sz="1100" dirty="0">
                <a:solidFill>
                  <a:srgbClr val="5F6670"/>
                </a:solidFill>
                <a:latin typeface="Arial" pitchFamily="34" charset="0"/>
                <a:ea typeface="Arial" pitchFamily="34" charset="-122"/>
                <a:cs typeface="Arial" pitchFamily="34" charset="-120"/>
              </a:rPr>
              <a:t>5</a:t>
            </a:r>
            <a:endParaRPr lang="en-US" sz="1100" dirty="0"/>
          </a:p>
        </p:txBody>
      </p:sp>
      <p:sp>
        <p:nvSpPr>
          <p:cNvPr id="7" name="Text 4"/>
          <p:cNvSpPr/>
          <p:nvPr/>
        </p:nvSpPr>
        <p:spPr>
          <a:xfrm>
            <a:off x="548640" y="1280160"/>
            <a:ext cx="11094415" cy="457200"/>
          </a:xfrm>
          <a:prstGeom prst="rect">
            <a:avLst/>
          </a:prstGeom>
          <a:noFill/>
          <a:ln/>
        </p:spPr>
        <p:txBody>
          <a:bodyPr wrap="square" lIns="0" tIns="0" rIns="0" bIns="0" rtlCol="0" anchor="t"/>
          <a:lstStyle/>
          <a:p>
            <a:pPr marL="0" indent="0">
              <a:buNone/>
            </a:pPr>
            <a:r>
              <a:rPr lang="en-US" sz="2100" dirty="0">
                <a:solidFill>
                  <a:srgbClr val="1F2328"/>
                </a:solidFill>
                <a:latin typeface="Arial" pitchFamily="34" charset="0"/>
                <a:ea typeface="Arial" pitchFamily="34" charset="-122"/>
                <a:cs typeface="Arial" pitchFamily="34" charset="-120"/>
              </a:rPr>
              <a:t>Hardness only uses the average prediction. Three genuine rows with the same hardness:</a:t>
            </a:r>
            <a:endParaRPr lang="en-US" sz="2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7955280" cy="1828800"/>
        </p:xfrm>
        <a:graphic>
          <a:graphicData uri="http://schemas.openxmlformats.org/drawingml/2006/table">
            <a:tbl>
              <a:tblPr/>
              <a:tblGrid>
                <a:gridCol w="91440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457200">
                <a:tc>
                  <a:txBody>
                    <a:bodyPr/>
                    <a:lstStyle/>
                    <a:p>
                      <a:pPr marL="0" indent="0" algn="l">
                        <a:buNone/>
                      </a:pPr>
                      <a:r>
                        <a:rPr lang="en-US" sz="2000" b="1" dirty="0">
                          <a:solidFill>
                            <a:srgbClr val="1F3A5F"/>
                          </a:solidFill>
                          <a:latin typeface="Arial" pitchFamily="34" charset="0"/>
                          <a:ea typeface="Arial" pitchFamily="34" charset="-122"/>
                          <a:cs typeface="Arial" pitchFamily="34" charset="-120"/>
                        </a:rPr>
                        <a:t>Row</a:t>
                      </a:r>
                      <a:endParaRPr lang="en-US" sz="2000" dirty="0">
                        <a:latin typeface="Arial" charset="0"/>
                        <a:ea typeface="Arial" charset="0"/>
                        <a:cs typeface="Arial"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F3A5F"/>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F3A5F"/>
                          </a:solidFill>
                          <a:latin typeface="Arial" pitchFamily="34" charset="0"/>
                          <a:ea typeface="Arial" pitchFamily="34" charset="-122"/>
                          <a:cs typeface="Arial" pitchFamily="34" charset="-120"/>
                        </a:rPr>
                        <a:t>Predictions of 4 classifiers</a:t>
                      </a:r>
                      <a:endParaRPr lang="en-US" sz="2000" dirty="0">
                        <a:latin typeface="Arial" charset="0"/>
                        <a:ea typeface="Arial" charset="0"/>
                        <a:cs typeface="Arial"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F3A5F"/>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F3A5F"/>
                          </a:solidFill>
                          <a:latin typeface="Arial" pitchFamily="34" charset="0"/>
                          <a:ea typeface="Arial" pitchFamily="34" charset="-122"/>
                          <a:cs typeface="Arial" pitchFamily="34" charset="-120"/>
                        </a:rPr>
                        <a:t>Hardness H</a:t>
                      </a:r>
                      <a:endParaRPr lang="en-US" sz="2000" dirty="0">
                        <a:latin typeface="Arial" charset="0"/>
                        <a:ea typeface="Arial" charset="0"/>
                        <a:cs typeface="Arial"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F3A5F"/>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F3A5F"/>
                          </a:solidFill>
                          <a:latin typeface="Arial" pitchFamily="34" charset="0"/>
                          <a:ea typeface="Arial" pitchFamily="34" charset="-122"/>
                          <a:cs typeface="Arial" pitchFamily="34" charset="-120"/>
                        </a:rPr>
                        <a:t>Ũ</a:t>
                      </a:r>
                      <a:endParaRPr lang="en-US" sz="2000" dirty="0">
                        <a:latin typeface="Arial" charset="0"/>
                        <a:ea typeface="Arial" charset="0"/>
                        <a:cs typeface="Arial"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F3A5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57200">
                <a:tc>
                  <a:txBody>
                    <a:bodyPr/>
                    <a:lstStyle/>
                    <a:p>
                      <a:pPr marL="0" indent="0" algn="l">
                        <a:buNone/>
                      </a:pPr>
                      <a:r>
                        <a:rPr lang="en-US" sz="2000" dirty="0">
                          <a:solidFill>
                            <a:srgbClr val="1F2328"/>
                          </a:solidFill>
                          <a:latin typeface="Arial" pitchFamily="34" charset="0"/>
                          <a:ea typeface="Arial" pitchFamily="34" charset="-122"/>
                          <a:cs typeface="Arial" pitchFamily="34" charset="-120"/>
                        </a:rPr>
                        <a:t>X</a:t>
                      </a:r>
                      <a:endParaRPr lang="en-US" sz="2000" dirty="0">
                        <a:latin typeface="Arial" charset="0"/>
                        <a:ea typeface="Arial" charset="0"/>
                        <a:cs typeface="Arial" charset="0"/>
                      </a:endParaRPr>
                    </a:p>
                  </a:txBody>
                  <a:tcPr marL="76200" marR="76200" marT="25400" marB="25400" anchor="ctr">
                    <a:lnL w="0" cap="flat" cmpd="sng" algn="ctr">
                      <a:noFill/>
                    </a:lnL>
                    <a:lnR w="0" cap="flat" cmpd="sng" algn="ctr">
                      <a:noFill/>
                    </a:lnR>
                    <a:lnT w="15875" cap="flat" cmpd="sng" algn="ctr">
                      <a:solidFill>
                        <a:srgbClr val="1F3A5F"/>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328"/>
                          </a:solidFill>
                          <a:latin typeface="Arial" pitchFamily="34" charset="0"/>
                          <a:ea typeface="Arial" pitchFamily="34" charset="-122"/>
                          <a:cs typeface="Arial" pitchFamily="34" charset="-120"/>
                        </a:rPr>
                        <a:t>0.50   0.50   0.50   0.50</a:t>
                      </a:r>
                      <a:endParaRPr lang="en-US" sz="2000" dirty="0">
                        <a:latin typeface="Arial" charset="0"/>
                        <a:ea typeface="Arial" charset="0"/>
                        <a:cs typeface="Arial" charset="0"/>
                      </a:endParaRPr>
                    </a:p>
                  </a:txBody>
                  <a:tcPr marL="76200" marR="76200" marT="25400" marB="25400" anchor="ctr">
                    <a:lnL w="0" cap="flat" cmpd="sng" algn="ctr">
                      <a:noFill/>
                    </a:lnL>
                    <a:lnR w="0" cap="flat" cmpd="sng" algn="ctr">
                      <a:noFill/>
                    </a:lnR>
                    <a:lnT w="15875" cap="flat" cmpd="sng" algn="ctr">
                      <a:solidFill>
                        <a:srgbClr val="1F3A5F"/>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328"/>
                          </a:solidFill>
                          <a:latin typeface="Arial" pitchFamily="34" charset="0"/>
                          <a:ea typeface="Arial" pitchFamily="34" charset="-122"/>
                          <a:cs typeface="Arial" pitchFamily="34" charset="-120"/>
                        </a:rPr>
                        <a:t>0.50</a:t>
                      </a:r>
                      <a:endParaRPr lang="en-US" sz="2000" dirty="0">
                        <a:latin typeface="Arial" charset="0"/>
                        <a:ea typeface="Arial" charset="0"/>
                        <a:cs typeface="Arial" charset="0"/>
                      </a:endParaRPr>
                    </a:p>
                  </a:txBody>
                  <a:tcPr marL="76200" marR="76200" marT="25400" marB="25400" anchor="ctr">
                    <a:lnL w="0" cap="flat" cmpd="sng" algn="ctr">
                      <a:noFill/>
                    </a:lnL>
                    <a:lnR w="0" cap="flat" cmpd="sng" algn="ctr">
                      <a:noFill/>
                    </a:lnR>
                    <a:lnT w="15875" cap="flat" cmpd="sng" algn="ctr">
                      <a:solidFill>
                        <a:srgbClr val="1F3A5F"/>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328"/>
                          </a:solidFill>
                          <a:latin typeface="Arial" pitchFamily="34" charset="0"/>
                          <a:ea typeface="Arial" pitchFamily="34" charset="-122"/>
                          <a:cs typeface="Arial" pitchFamily="34" charset="-120"/>
                        </a:rPr>
                        <a:t>1.00</a:t>
                      </a:r>
                      <a:endParaRPr lang="en-US" sz="2000" dirty="0">
                        <a:latin typeface="Arial" charset="0"/>
                        <a:ea typeface="Arial" charset="0"/>
                        <a:cs typeface="Arial" charset="0"/>
                      </a:endParaRPr>
                    </a:p>
                  </a:txBody>
                  <a:tcPr marL="76200" marR="76200" marT="25400" marB="25400" anchor="ctr">
                    <a:lnL w="0" cap="flat" cmpd="sng" algn="ctr">
                      <a:noFill/>
                    </a:lnL>
                    <a:lnR w="0" cap="flat" cmpd="sng" algn="ctr">
                      <a:noFill/>
                    </a:lnR>
                    <a:lnT w="15875" cap="flat" cmpd="sng" algn="ctr">
                      <a:solidFill>
                        <a:srgbClr val="1F3A5F"/>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2000" dirty="0">
                          <a:solidFill>
                            <a:srgbClr val="1F2328"/>
                          </a:solidFill>
                          <a:latin typeface="Arial" pitchFamily="34" charset="0"/>
                          <a:ea typeface="Arial" pitchFamily="34" charset="-122"/>
                          <a:cs typeface="Arial" pitchFamily="34" charset="-120"/>
                        </a:rPr>
                        <a:t>Y</a:t>
                      </a:r>
                      <a:endParaRPr lang="en-US" sz="20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328"/>
                          </a:solidFill>
                          <a:latin typeface="Arial" pitchFamily="34" charset="0"/>
                          <a:ea typeface="Arial" pitchFamily="34" charset="-122"/>
                          <a:cs typeface="Arial" pitchFamily="34" charset="-120"/>
                        </a:rPr>
                        <a:t>0.10   0.90   0.15   0.85</a:t>
                      </a:r>
                      <a:endParaRPr lang="en-US" sz="20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328"/>
                          </a:solidFill>
                          <a:latin typeface="Arial" pitchFamily="34" charset="0"/>
                          <a:ea typeface="Arial" pitchFamily="34" charset="-122"/>
                          <a:cs typeface="Arial" pitchFamily="34" charset="-120"/>
                        </a:rPr>
                        <a:t>0.50</a:t>
                      </a:r>
                      <a:endParaRPr lang="en-US" sz="20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328"/>
                          </a:solidFill>
                          <a:latin typeface="Arial" pitchFamily="34" charset="0"/>
                          <a:ea typeface="Arial" pitchFamily="34" charset="-122"/>
                          <a:cs typeface="Arial" pitchFamily="34" charset="-120"/>
                        </a:rPr>
                        <a:t>0.44</a:t>
                      </a:r>
                      <a:endParaRPr lang="en-US" sz="20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l">
                        <a:buNone/>
                      </a:pPr>
                      <a:r>
                        <a:rPr lang="en-US" sz="2000" dirty="0">
                          <a:solidFill>
                            <a:srgbClr val="1F2328"/>
                          </a:solidFill>
                          <a:latin typeface="Arial" pitchFamily="34" charset="0"/>
                          <a:ea typeface="Arial" pitchFamily="34" charset="-122"/>
                          <a:cs typeface="Arial" pitchFamily="34" charset="-120"/>
                        </a:rPr>
                        <a:t>Z</a:t>
                      </a:r>
                      <a:endParaRPr lang="en-US" sz="20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328"/>
                          </a:solidFill>
                          <a:latin typeface="Arial" pitchFamily="34" charset="0"/>
                          <a:ea typeface="Arial" pitchFamily="34" charset="-122"/>
                          <a:cs typeface="Arial" pitchFamily="34" charset="-120"/>
                        </a:rPr>
                        <a:t>0.00   1.00   0.00   1.00</a:t>
                      </a:r>
                      <a:endParaRPr lang="en-US" sz="20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328"/>
                          </a:solidFill>
                          <a:latin typeface="Arial" pitchFamily="34" charset="0"/>
                          <a:ea typeface="Arial" pitchFamily="34" charset="-122"/>
                          <a:cs typeface="Arial" pitchFamily="34" charset="-120"/>
                        </a:rPr>
                        <a:t>0.50</a:t>
                      </a:r>
                      <a:endParaRPr lang="en-US" sz="20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328"/>
                          </a:solidFill>
                          <a:latin typeface="Arial" pitchFamily="34" charset="0"/>
                          <a:ea typeface="Arial" pitchFamily="34" charset="-122"/>
                          <a:cs typeface="Arial" pitchFamily="34" charset="-120"/>
                        </a:rPr>
                        <a:t>0.00</a:t>
                      </a:r>
                      <a:endParaRPr lang="en-US" sz="20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9" name="Text 5"/>
          <p:cNvSpPr/>
          <p:nvPr/>
        </p:nvSpPr>
        <p:spPr>
          <a:xfrm>
            <a:off x="8778240" y="2011680"/>
            <a:ext cx="2862072" cy="1737360"/>
          </a:xfrm>
          <a:prstGeom prst="rect">
            <a:avLst/>
          </a:prstGeom>
          <a:noFill/>
          <a:ln/>
        </p:spPr>
        <p:txBody>
          <a:bodyPr wrap="square" lIns="0" tIns="0" rIns="0" bIns="0" rtlCol="0" anchor="t"/>
          <a:lstStyle/>
          <a:p>
            <a:pPr marL="0" indent="0">
              <a:buNone/>
            </a:pPr>
            <a:r>
              <a:rPr lang="en-US" sz="1700" dirty="0">
                <a:solidFill>
                  <a:srgbClr val="5F6670"/>
                </a:solidFill>
                <a:latin typeface="Arial" pitchFamily="34" charset="0"/>
                <a:ea typeface="Arial" pitchFamily="34" charset="-122"/>
                <a:cs typeface="Arial" pitchFamily="34" charset="-120"/>
              </a:rPr>
              <a:t>Ũ = 1: the classifiers agree</a:t>
            </a:r>
            <a:endParaRPr lang="en-US" sz="1700" dirty="0"/>
          </a:p>
          <a:p>
            <a:pPr marL="0" indent="0">
              <a:buNone/>
            </a:pPr>
            <a:r>
              <a:rPr lang="en-US" sz="1700" dirty="0">
                <a:solidFill>
                  <a:srgbClr val="5F6670"/>
                </a:solidFill>
                <a:latin typeface="Arial" pitchFamily="34" charset="0"/>
                <a:ea typeface="Arial" pitchFamily="34" charset="-122"/>
                <a:cs typeface="Arial" pitchFamily="34" charset="-120"/>
              </a:rPr>
              <a:t>Ũ = 0: they disagree as much as possible for this H</a:t>
            </a:r>
            <a:endParaRPr lang="en-US" sz="1700" dirty="0"/>
          </a:p>
        </p:txBody>
      </p:sp>
      <p:sp>
        <p:nvSpPr>
          <p:cNvPr id="10" name="Text 6"/>
          <p:cNvSpPr/>
          <p:nvPr/>
        </p:nvSpPr>
        <p:spPr>
          <a:xfrm>
            <a:off x="548640" y="3977640"/>
            <a:ext cx="11094415" cy="2286000"/>
          </a:xfrm>
          <a:prstGeom prst="rect">
            <a:avLst/>
          </a:prstGeom>
          <a:noFill/>
          <a:ln/>
        </p:spPr>
        <p:txBody>
          <a:bodyPr wrap="square" lIns="0" tIns="0" rIns="0" bIns="0" rtlCol="0" anchor="t"/>
          <a:lstStyle/>
          <a:p>
            <a:pPr marL="279400" indent="-279400">
              <a:spcAft>
                <a:spcPts val="800"/>
              </a:spcAft>
              <a:buSzPct val="100000"/>
              <a:buChar char="•"/>
            </a:pPr>
            <a:r>
              <a:rPr lang="en-US" sz="2000" dirty="0">
                <a:solidFill>
                  <a:srgbClr val="1F2328"/>
                </a:solidFill>
                <a:latin typeface="Arial" pitchFamily="34" charset="0"/>
                <a:ea typeface="Arial" pitchFamily="34" charset="-122"/>
                <a:cs typeface="Arial" pitchFamily="34" charset="-120"/>
              </a:rPr>
              <a:t>SPE treats X, Y and Z the same: they fall in the same bin</a:t>
            </a:r>
            <a:endParaRPr lang="en-US" sz="2000" dirty="0"/>
          </a:p>
          <a:p>
            <a:pPr marL="279400" indent="-279400">
              <a:spcAft>
                <a:spcPts val="800"/>
              </a:spcAft>
              <a:buSzPct val="100000"/>
              <a:buChar char="•"/>
            </a:pPr>
            <a:r>
              <a:rPr lang="en-US" sz="2000" dirty="0">
                <a:solidFill>
                  <a:srgbClr val="1F2328"/>
                </a:solidFill>
                <a:latin typeface="Arial" pitchFamily="34" charset="0"/>
                <a:ea typeface="Arial" pitchFamily="34" charset="-122"/>
                <a:cs typeface="Arial" pitchFamily="34" charset="-120"/>
              </a:rPr>
              <a:t>Our question: inside a bin, does it help to prefer rows on which the classifiers agree?</a:t>
            </a:r>
            <a:endParaRPr lang="en-US" sz="2000" dirty="0"/>
          </a:p>
          <a:p>
            <a:pPr marL="279400" indent="-279400">
              <a:spcAft>
                <a:spcPts val="800"/>
              </a:spcAft>
              <a:buSzPct val="100000"/>
              <a:buChar char="•"/>
            </a:pPr>
            <a:r>
              <a:rPr lang="en-US" sz="2000" dirty="0">
                <a:solidFill>
                  <a:srgbClr val="1F2328"/>
                </a:solidFill>
                <a:latin typeface="Arial" pitchFamily="34" charset="0"/>
                <a:ea typeface="Arial" pitchFamily="34" charset="-122"/>
                <a:cs typeface="Arial" pitchFamily="34" charset="-120"/>
              </a:rPr>
              <a:t>The score uses p(1 − p), an idea taken from Data-IQ (Seedat et al., NeurIPS 2022); our method is not Data-IQ itself</a:t>
            </a:r>
            <a:endParaRPr lang="en-US" sz="2000" dirty="0"/>
          </a:p>
          <a:p>
            <a:pPr marL="279400" indent="-279400">
              <a:spcAft>
                <a:spcPts val="800"/>
              </a:spcAft>
              <a:buSzPct val="100000"/>
              <a:buChar char="•"/>
            </a:pPr>
            <a:r>
              <a:rPr lang="en-US" sz="2000" dirty="0">
                <a:solidFill>
                  <a:srgbClr val="1F2328"/>
                </a:solidFill>
                <a:latin typeface="Arial" pitchFamily="34" charset="0"/>
                <a:ea typeface="Arial" pitchFamily="34" charset="-122"/>
                <a:cs typeface="Arial" pitchFamily="34" charset="-120"/>
              </a:rPr>
              <a:t>We did not assume these rows are more useful; this is what the experiment tests</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4415" cy="731520"/>
          </a:xfrm>
          <a:prstGeom prst="rect">
            <a:avLst/>
          </a:prstGeom>
          <a:noFill/>
          <a:ln/>
        </p:spPr>
        <p:txBody>
          <a:bodyPr wrap="square" lIns="0" tIns="0" rIns="0" bIns="0" rtlCol="0" anchor="ctr"/>
          <a:lstStyle/>
          <a:p>
            <a:pPr marL="0" indent="0">
              <a:buNone/>
            </a:pPr>
            <a:r>
              <a:rPr lang="en-US" sz="3200" b="1" dirty="0">
                <a:solidFill>
                  <a:srgbClr val="1F3A5F"/>
                </a:solidFill>
                <a:latin typeface="Arial" pitchFamily="34" charset="0"/>
                <a:ea typeface="Arial" pitchFamily="34" charset="-122"/>
                <a:cs typeface="Arial" pitchFamily="34" charset="-120"/>
              </a:rPr>
              <a:t>How UA-SPE works</a:t>
            </a:r>
            <a:endParaRPr lang="en-US" sz="3200" dirty="0"/>
          </a:p>
        </p:txBody>
      </p:sp>
      <p:sp>
        <p:nvSpPr>
          <p:cNvPr id="3" name="Shape 1"/>
          <p:cNvSpPr/>
          <p:nvPr/>
        </p:nvSpPr>
        <p:spPr>
          <a:xfrm>
            <a:off x="548640" y="6355080"/>
            <a:ext cx="11094415" cy="0"/>
          </a:xfrm>
          <a:prstGeom prst="line">
            <a:avLst/>
          </a:prstGeom>
          <a:noFill/>
          <a:ln w="9525">
            <a:solidFill>
              <a:srgbClr val="E3E6EA"/>
            </a:solidFill>
            <a:prstDash val="solid"/>
          </a:ln>
        </p:spPr>
      </p:sp>
      <p:sp>
        <p:nvSpPr>
          <p:cNvPr id="4" name="Text 2"/>
          <p:cNvSpPr/>
          <p:nvPr/>
        </p:nvSpPr>
        <p:spPr>
          <a:xfrm>
            <a:off x="548640" y="6400800"/>
            <a:ext cx="7315200" cy="274320"/>
          </a:xfrm>
          <a:prstGeom prst="rect">
            <a:avLst/>
          </a:prstGeom>
          <a:noFill/>
          <a:ln/>
        </p:spPr>
        <p:txBody>
          <a:bodyPr wrap="square" lIns="0" tIns="0" rIns="0" bIns="0" rtlCol="0" anchor="ctr"/>
          <a:lstStyle/>
          <a:p>
            <a:pPr marL="0" indent="0">
              <a:buNone/>
            </a:pPr>
            <a:r>
              <a:rPr lang="en-US" sz="1100" dirty="0">
                <a:solidFill>
                  <a:srgbClr val="5F6670"/>
                </a:solidFill>
                <a:latin typeface="Arial" pitchFamily="34" charset="0"/>
                <a:ea typeface="Arial" pitchFamily="34" charset="-122"/>
                <a:cs typeface="Arial" pitchFamily="34" charset="-120"/>
              </a:rPr>
              <a:t>DA 3011L · Uncertainty-Aware Self-Paced Ensemble</a:t>
            </a:r>
            <a:endParaRPr lang="en-US" sz="1100" dirty="0"/>
          </a:p>
        </p:txBody>
      </p:sp>
      <p:sp>
        <p:nvSpPr>
          <p:cNvPr id="5" name="Text 3"/>
          <p:cNvSpPr/>
          <p:nvPr/>
        </p:nvSpPr>
        <p:spPr>
          <a:xfrm>
            <a:off x="10728655" y="6400800"/>
            <a:ext cx="914400" cy="274320"/>
          </a:xfrm>
          <a:prstGeom prst="rect">
            <a:avLst/>
          </a:prstGeom>
          <a:noFill/>
          <a:ln/>
        </p:spPr>
        <p:txBody>
          <a:bodyPr wrap="square" lIns="0" tIns="0" rIns="0" bIns="0" rtlCol="0" anchor="ctr"/>
          <a:lstStyle/>
          <a:p>
            <a:pPr marL="0" indent="0" algn="r">
              <a:buNone/>
            </a:pPr>
            <a:r>
              <a:rPr lang="en-US" sz="1100" dirty="0">
                <a:solidFill>
                  <a:srgbClr val="5F6670"/>
                </a:solidFill>
                <a:latin typeface="Arial" pitchFamily="34" charset="0"/>
                <a:ea typeface="Arial" pitchFamily="34" charset="-122"/>
                <a:cs typeface="Arial" pitchFamily="34" charset="-120"/>
              </a:rPr>
              <a:t>6</a:t>
            </a:r>
            <a:endParaRPr lang="en-US" sz="1100" dirty="0"/>
          </a:p>
        </p:txBody>
      </p:sp>
      <p:sp>
        <p:nvSpPr>
          <p:cNvPr id="7" name="Text 4"/>
          <p:cNvSpPr/>
          <p:nvPr/>
        </p:nvSpPr>
        <p:spPr>
          <a:xfrm>
            <a:off x="548640" y="1234440"/>
            <a:ext cx="6400800" cy="365760"/>
          </a:xfrm>
          <a:prstGeom prst="rect">
            <a:avLst/>
          </a:prstGeom>
          <a:noFill/>
          <a:ln/>
        </p:spPr>
        <p:txBody>
          <a:bodyPr wrap="square" lIns="0" tIns="0" rIns="0" bIns="0" rtlCol="0" anchor="t"/>
          <a:lstStyle/>
          <a:p>
            <a:pPr marL="0" indent="0">
              <a:buNone/>
            </a:pPr>
            <a:r>
              <a:rPr lang="en-US" sz="1900" dirty="0">
                <a:solidFill>
                  <a:srgbClr val="1F2328"/>
                </a:solidFill>
                <a:latin typeface="Arial" pitchFamily="34" charset="0"/>
                <a:ea typeface="Arial" pitchFamily="34" charset="-122"/>
                <a:cs typeface="Arial" pitchFamily="34" charset="-120"/>
              </a:rPr>
              <a:t>1. Average uncertainty of the classifiers so far</a:t>
            </a:r>
            <a:endParaRPr lang="en-US" sz="1900" dirty="0"/>
          </a:p>
        </p:txBody>
      </p:sp>
      <p:pic>
        <p:nvPicPr>
          <p:cNvPr id="8" name="Image 0" descr="/home/claude/work/deck2/eq/u.png"/>
          <p:cNvPicPr>
            <a:picLocks noChangeAspect="1"/>
          </p:cNvPicPr>
          <p:nvPr/>
        </p:nvPicPr>
        <p:blipFill>
          <a:blip r:embed="rId3"/>
          <a:stretch>
            <a:fillRect/>
          </a:stretch>
        </p:blipFill>
        <p:spPr>
          <a:xfrm>
            <a:off x="822960" y="1645920"/>
            <a:ext cx="3906164" cy="1013460"/>
          </a:xfrm>
          <a:prstGeom prst="rect">
            <a:avLst/>
          </a:prstGeom>
        </p:spPr>
      </p:pic>
      <p:sp>
        <p:nvSpPr>
          <p:cNvPr id="9" name="Text 5"/>
          <p:cNvSpPr/>
          <p:nvPr/>
        </p:nvSpPr>
        <p:spPr>
          <a:xfrm>
            <a:off x="548640" y="2788920"/>
            <a:ext cx="6675120" cy="365760"/>
          </a:xfrm>
          <a:prstGeom prst="rect">
            <a:avLst/>
          </a:prstGeom>
          <a:noFill/>
          <a:ln/>
        </p:spPr>
        <p:txBody>
          <a:bodyPr wrap="square" lIns="0" tIns="0" rIns="0" bIns="0" rtlCol="0" anchor="t"/>
          <a:lstStyle/>
          <a:p>
            <a:pPr marL="0" indent="0">
              <a:buNone/>
            </a:pPr>
            <a:r>
              <a:rPr lang="en-US" sz="1900" dirty="0">
                <a:solidFill>
                  <a:srgbClr val="1F2328"/>
                </a:solidFill>
                <a:latin typeface="Arial" pitchFamily="34" charset="0"/>
                <a:ea typeface="Arial" pitchFamily="34" charset="-122"/>
                <a:cs typeface="Arial" pitchFamily="34" charset="-120"/>
              </a:rPr>
              <a:t>2. Normalise by hardness (0 ≤ Ũ ≤ 1; Ũ = 0 if H(1 − H) = 0)</a:t>
            </a:r>
            <a:endParaRPr lang="en-US" sz="1900" dirty="0"/>
          </a:p>
        </p:txBody>
      </p:sp>
      <p:pic>
        <p:nvPicPr>
          <p:cNvPr id="10" name="Image 1" descr="/home/claude/work/deck2/eq/ut.png"/>
          <p:cNvPicPr>
            <a:picLocks noChangeAspect="1"/>
          </p:cNvPicPr>
          <p:nvPr/>
        </p:nvPicPr>
        <p:blipFill>
          <a:blip r:embed="rId4"/>
          <a:stretch>
            <a:fillRect/>
          </a:stretch>
        </p:blipFill>
        <p:spPr>
          <a:xfrm>
            <a:off x="822960" y="3200400"/>
            <a:ext cx="6515100" cy="822350"/>
          </a:xfrm>
          <a:prstGeom prst="rect">
            <a:avLst/>
          </a:prstGeom>
        </p:spPr>
      </p:pic>
      <p:sp>
        <p:nvSpPr>
          <p:cNvPr id="11" name="Text 6"/>
          <p:cNvSpPr/>
          <p:nvPr/>
        </p:nvSpPr>
        <p:spPr>
          <a:xfrm>
            <a:off x="548640" y="4206240"/>
            <a:ext cx="6400800" cy="365760"/>
          </a:xfrm>
          <a:prstGeom prst="rect">
            <a:avLst/>
          </a:prstGeom>
          <a:noFill/>
          <a:ln/>
        </p:spPr>
        <p:txBody>
          <a:bodyPr wrap="square" lIns="0" tIns="0" rIns="0" bIns="0" rtlCol="0" anchor="t"/>
          <a:lstStyle/>
          <a:p>
            <a:pPr marL="0" indent="0">
              <a:buNone/>
            </a:pPr>
            <a:r>
              <a:rPr lang="en-US" sz="1900" dirty="0">
                <a:solidFill>
                  <a:srgbClr val="1F2328"/>
                </a:solidFill>
                <a:latin typeface="Arial" pitchFamily="34" charset="0"/>
                <a:ea typeface="Arial" pitchFamily="34" charset="-122"/>
                <a:cs typeface="Arial" pitchFamily="34" charset="-120"/>
              </a:rPr>
              <a:t>3. Inside bin l, draw rows with probability</a:t>
            </a:r>
            <a:endParaRPr lang="en-US" sz="1900" dirty="0"/>
          </a:p>
        </p:txBody>
      </p:sp>
      <p:pic>
        <p:nvPicPr>
          <p:cNvPr id="12" name="Image 2" descr="/home/claude/work/deck2/eq/sel.png"/>
          <p:cNvPicPr>
            <a:picLocks noChangeAspect="1"/>
          </p:cNvPicPr>
          <p:nvPr/>
        </p:nvPicPr>
        <p:blipFill>
          <a:blip r:embed="rId5"/>
          <a:stretch>
            <a:fillRect/>
          </a:stretch>
        </p:blipFill>
        <p:spPr>
          <a:xfrm>
            <a:off x="822960" y="4617720"/>
            <a:ext cx="3738220" cy="886054"/>
          </a:xfrm>
          <a:prstGeom prst="rect">
            <a:avLst/>
          </a:prstGeom>
        </p:spPr>
      </p:pic>
      <p:sp>
        <p:nvSpPr>
          <p:cNvPr id="13" name="Shape 7"/>
          <p:cNvSpPr/>
          <p:nvPr/>
        </p:nvSpPr>
        <p:spPr>
          <a:xfrm>
            <a:off x="7726680" y="1280160"/>
            <a:ext cx="3913632" cy="2606040"/>
          </a:xfrm>
          <a:prstGeom prst="rect">
            <a:avLst/>
          </a:prstGeom>
          <a:solidFill>
            <a:srgbClr val="FFFFFF"/>
          </a:solidFill>
          <a:ln w="12700">
            <a:solidFill>
              <a:srgbClr val="1F3A5F"/>
            </a:solidFill>
            <a:prstDash val="solid"/>
          </a:ln>
        </p:spPr>
      </p:sp>
      <p:sp>
        <p:nvSpPr>
          <p:cNvPr id="14" name="Text 8"/>
          <p:cNvSpPr/>
          <p:nvPr/>
        </p:nvSpPr>
        <p:spPr>
          <a:xfrm>
            <a:off x="7955280" y="1417320"/>
            <a:ext cx="3474720" cy="365760"/>
          </a:xfrm>
          <a:prstGeom prst="rect">
            <a:avLst/>
          </a:prstGeom>
          <a:noFill/>
          <a:ln/>
        </p:spPr>
        <p:txBody>
          <a:bodyPr wrap="square" lIns="0" tIns="0" rIns="0" bIns="0" rtlCol="0" anchor="t"/>
          <a:lstStyle/>
          <a:p>
            <a:pPr marL="0" indent="0">
              <a:buNone/>
            </a:pPr>
            <a:r>
              <a:rPr lang="en-US" sz="1900" b="1" dirty="0">
                <a:solidFill>
                  <a:srgbClr val="1F3A5F"/>
                </a:solidFill>
                <a:latin typeface="Arial" pitchFamily="34" charset="0"/>
                <a:ea typeface="Arial" pitchFamily="34" charset="-122"/>
                <a:cs typeface="Arial" pitchFamily="34" charset="-120"/>
              </a:rPr>
              <a:t>Values of γ</a:t>
            </a:r>
            <a:endParaRPr lang="en-US" sz="1900" dirty="0"/>
          </a:p>
        </p:txBody>
      </p:sp>
      <p:sp>
        <p:nvSpPr>
          <p:cNvPr id="15" name="Text 9"/>
          <p:cNvSpPr/>
          <p:nvPr/>
        </p:nvSpPr>
        <p:spPr>
          <a:xfrm>
            <a:off x="7955280" y="1874520"/>
            <a:ext cx="3520440" cy="1920240"/>
          </a:xfrm>
          <a:prstGeom prst="rect">
            <a:avLst/>
          </a:prstGeom>
          <a:noFill/>
          <a:ln/>
        </p:spPr>
        <p:txBody>
          <a:bodyPr wrap="square" lIns="0" tIns="0" rIns="0" bIns="0" rtlCol="0" anchor="t"/>
          <a:lstStyle/>
          <a:p>
            <a:pPr marL="279400" indent="-279400">
              <a:spcAft>
                <a:spcPts val="1000"/>
              </a:spcAft>
              <a:buSzPct val="100000"/>
              <a:buChar char="•"/>
            </a:pPr>
            <a:r>
              <a:rPr lang="en-US" sz="1800" dirty="0">
                <a:solidFill>
                  <a:srgbClr val="1F2328"/>
                </a:solidFill>
                <a:latin typeface="Arial" pitchFamily="34" charset="0"/>
                <a:ea typeface="Arial" pitchFamily="34" charset="-122"/>
                <a:cs typeface="Arial" pitchFamily="34" charset="-120"/>
              </a:rPr>
              <a:t>γ = 0: all weights equal 1, so this is exactly SPE (control)</a:t>
            </a:r>
            <a:endParaRPr lang="en-US" sz="1800" dirty="0"/>
          </a:p>
          <a:p>
            <a:pPr marL="279400" indent="-279400">
              <a:spcAft>
                <a:spcPts val="1000"/>
              </a:spcAft>
              <a:buSzPct val="100000"/>
              <a:buChar char="•"/>
            </a:pPr>
            <a:r>
              <a:rPr lang="en-US" sz="1800" dirty="0">
                <a:solidFill>
                  <a:srgbClr val="1F2328"/>
                </a:solidFill>
                <a:latin typeface="Arial" pitchFamily="34" charset="0"/>
                <a:ea typeface="Arial" pitchFamily="34" charset="-122"/>
                <a:cs typeface="Arial" pitchFamily="34" charset="-120"/>
              </a:rPr>
              <a:t>γ = 1, 2, 4: increasingly strong preference for rows with high Ũ</a:t>
            </a:r>
            <a:endParaRPr lang="en-US" sz="1800" dirty="0"/>
          </a:p>
        </p:txBody>
      </p:sp>
      <p:sp>
        <p:nvSpPr>
          <p:cNvPr id="16" name="Shape 10"/>
          <p:cNvSpPr/>
          <p:nvPr/>
        </p:nvSpPr>
        <p:spPr>
          <a:xfrm>
            <a:off x="7726680" y="4069080"/>
            <a:ext cx="3913632" cy="2011680"/>
          </a:xfrm>
          <a:prstGeom prst="rect">
            <a:avLst/>
          </a:prstGeom>
          <a:solidFill>
            <a:srgbClr val="FFFFFF"/>
          </a:solidFill>
          <a:ln w="12700">
            <a:solidFill>
              <a:srgbClr val="9AA1AA"/>
            </a:solidFill>
            <a:prstDash val="solid"/>
          </a:ln>
        </p:spPr>
      </p:sp>
      <p:sp>
        <p:nvSpPr>
          <p:cNvPr id="17" name="Text 11"/>
          <p:cNvSpPr/>
          <p:nvPr/>
        </p:nvSpPr>
        <p:spPr>
          <a:xfrm>
            <a:off x="7955280" y="4187952"/>
            <a:ext cx="3474720" cy="365760"/>
          </a:xfrm>
          <a:prstGeom prst="rect">
            <a:avLst/>
          </a:prstGeom>
          <a:noFill/>
          <a:ln/>
        </p:spPr>
        <p:txBody>
          <a:bodyPr wrap="square" lIns="0" tIns="0" rIns="0" bIns="0" rtlCol="0" anchor="t"/>
          <a:lstStyle/>
          <a:p>
            <a:pPr marL="0" indent="0">
              <a:buNone/>
            </a:pPr>
            <a:r>
              <a:rPr lang="en-US" sz="1900" b="1" dirty="0">
                <a:solidFill>
                  <a:srgbClr val="1F3A5F"/>
                </a:solidFill>
                <a:latin typeface="Arial" pitchFamily="34" charset="0"/>
                <a:ea typeface="Arial" pitchFamily="34" charset="-122"/>
                <a:cs typeface="Arial" pitchFamily="34" charset="-120"/>
              </a:rPr>
              <a:t>What Ũ measures</a:t>
            </a:r>
            <a:endParaRPr lang="en-US" sz="1900" dirty="0"/>
          </a:p>
        </p:txBody>
      </p:sp>
      <p:sp>
        <p:nvSpPr>
          <p:cNvPr id="18" name="Text 12"/>
          <p:cNvSpPr/>
          <p:nvPr/>
        </p:nvSpPr>
        <p:spPr>
          <a:xfrm>
            <a:off x="7955280" y="4617720"/>
            <a:ext cx="3520440" cy="1371600"/>
          </a:xfrm>
          <a:prstGeom prst="rect">
            <a:avLst/>
          </a:prstGeom>
          <a:noFill/>
          <a:ln/>
        </p:spPr>
        <p:txBody>
          <a:bodyPr wrap="square" lIns="0" tIns="0" rIns="0" bIns="0" rtlCol="0" anchor="t"/>
          <a:lstStyle/>
          <a:p>
            <a:pPr marL="0" indent="0">
              <a:buNone/>
            </a:pPr>
            <a:r>
              <a:rPr lang="en-US" sz="1600" dirty="0">
                <a:solidFill>
                  <a:srgbClr val="1F2328"/>
                </a:solidFill>
                <a:latin typeface="Arial" pitchFamily="34" charset="0"/>
                <a:ea typeface="Arial" pitchFamily="34" charset="-122"/>
                <a:cs typeface="Arial" pitchFamily="34" charset="-120"/>
              </a:rPr>
              <a:t>How much the classifiers agree, relative to the row's hardness. A high Ũ does not guarantee that a row is informative.</a:t>
            </a:r>
            <a:endParaRPr lang="en-US" sz="1600" dirty="0"/>
          </a:p>
        </p:txBody>
      </p:sp>
      <p:sp>
        <p:nvSpPr>
          <p:cNvPr id="19" name="Text 13"/>
          <p:cNvSpPr/>
          <p:nvPr/>
        </p:nvSpPr>
        <p:spPr>
          <a:xfrm>
            <a:off x="548640" y="5715000"/>
            <a:ext cx="6949440" cy="365760"/>
          </a:xfrm>
          <a:prstGeom prst="rect">
            <a:avLst/>
          </a:prstGeom>
          <a:noFill/>
          <a:ln/>
        </p:spPr>
        <p:txBody>
          <a:bodyPr wrap="square" lIns="0" tIns="0" rIns="0" bIns="0" rtlCol="0" anchor="t"/>
          <a:lstStyle/>
          <a:p>
            <a:pPr marL="0" indent="0">
              <a:buNone/>
            </a:pPr>
            <a:r>
              <a:rPr lang="en-US" sz="1600" dirty="0">
                <a:solidFill>
                  <a:srgbClr val="5F6670"/>
                </a:solidFill>
                <a:latin typeface="Arial" pitchFamily="34" charset="0"/>
                <a:ea typeface="Arial" pitchFamily="34" charset="-122"/>
                <a:cs typeface="Arial" pitchFamily="34" charset="-120"/>
              </a:rPr>
              <a:t>Bins, bin weights, the 284-row budget and the 10 classifiers are unchanged.</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4415" cy="731520"/>
          </a:xfrm>
          <a:prstGeom prst="rect">
            <a:avLst/>
          </a:prstGeom>
          <a:noFill/>
          <a:ln/>
        </p:spPr>
        <p:txBody>
          <a:bodyPr wrap="square" lIns="0" tIns="0" rIns="0" bIns="0" rtlCol="0" anchor="ctr"/>
          <a:lstStyle/>
          <a:p>
            <a:pPr marL="0" indent="0">
              <a:buNone/>
            </a:pPr>
            <a:r>
              <a:rPr lang="en-US" sz="3200" b="1" dirty="0">
                <a:solidFill>
                  <a:srgbClr val="1F3A5F"/>
                </a:solidFill>
                <a:latin typeface="Arial" pitchFamily="34" charset="0"/>
                <a:ea typeface="Arial" pitchFamily="34" charset="-122"/>
                <a:cs typeface="Arial" pitchFamily="34" charset="-120"/>
              </a:rPr>
              <a:t>Experimental setup</a:t>
            </a:r>
            <a:endParaRPr lang="en-US" sz="3200" dirty="0"/>
          </a:p>
        </p:txBody>
      </p:sp>
      <p:sp>
        <p:nvSpPr>
          <p:cNvPr id="3" name="Shape 1"/>
          <p:cNvSpPr/>
          <p:nvPr/>
        </p:nvSpPr>
        <p:spPr>
          <a:xfrm>
            <a:off x="548640" y="6355080"/>
            <a:ext cx="11094415" cy="0"/>
          </a:xfrm>
          <a:prstGeom prst="line">
            <a:avLst/>
          </a:prstGeom>
          <a:noFill/>
          <a:ln w="9525">
            <a:solidFill>
              <a:srgbClr val="E3E6EA"/>
            </a:solidFill>
            <a:prstDash val="solid"/>
          </a:ln>
        </p:spPr>
      </p:sp>
      <p:sp>
        <p:nvSpPr>
          <p:cNvPr id="4" name="Text 2"/>
          <p:cNvSpPr/>
          <p:nvPr/>
        </p:nvSpPr>
        <p:spPr>
          <a:xfrm>
            <a:off x="548640" y="6400800"/>
            <a:ext cx="7315200" cy="274320"/>
          </a:xfrm>
          <a:prstGeom prst="rect">
            <a:avLst/>
          </a:prstGeom>
          <a:noFill/>
          <a:ln/>
        </p:spPr>
        <p:txBody>
          <a:bodyPr wrap="square" lIns="0" tIns="0" rIns="0" bIns="0" rtlCol="0" anchor="ctr"/>
          <a:lstStyle/>
          <a:p>
            <a:pPr marL="0" indent="0">
              <a:buNone/>
            </a:pPr>
            <a:r>
              <a:rPr lang="en-US" sz="1100" dirty="0">
                <a:solidFill>
                  <a:srgbClr val="5F6670"/>
                </a:solidFill>
                <a:latin typeface="Arial" pitchFamily="34" charset="0"/>
                <a:ea typeface="Arial" pitchFamily="34" charset="-122"/>
                <a:cs typeface="Arial" pitchFamily="34" charset="-120"/>
              </a:rPr>
              <a:t>DA 3011L · Uncertainty-Aware Self-Paced Ensemble</a:t>
            </a:r>
            <a:endParaRPr lang="en-US" sz="1100" dirty="0"/>
          </a:p>
        </p:txBody>
      </p:sp>
      <p:sp>
        <p:nvSpPr>
          <p:cNvPr id="5" name="Text 3"/>
          <p:cNvSpPr/>
          <p:nvPr/>
        </p:nvSpPr>
        <p:spPr>
          <a:xfrm>
            <a:off x="10728655" y="6400800"/>
            <a:ext cx="914400" cy="274320"/>
          </a:xfrm>
          <a:prstGeom prst="rect">
            <a:avLst/>
          </a:prstGeom>
          <a:noFill/>
          <a:ln/>
        </p:spPr>
        <p:txBody>
          <a:bodyPr wrap="square" lIns="0" tIns="0" rIns="0" bIns="0" rtlCol="0" anchor="ctr"/>
          <a:lstStyle/>
          <a:p>
            <a:pPr marL="0" indent="0" algn="r">
              <a:buNone/>
            </a:pPr>
            <a:r>
              <a:rPr lang="en-US" sz="1100" dirty="0">
                <a:solidFill>
                  <a:srgbClr val="5F6670"/>
                </a:solidFill>
                <a:latin typeface="Arial" pitchFamily="34" charset="0"/>
                <a:ea typeface="Arial" pitchFamily="34" charset="-122"/>
                <a:cs typeface="Arial" pitchFamily="34" charset="-120"/>
              </a:rPr>
              <a:t>7</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194560">
                  <a:extLst>
                    <a:ext uri="{9D8B030D-6E8A-4147-A177-3AD203B41FA5}">
                      <a16:colId xmlns:a16="http://schemas.microsoft.com/office/drawing/2014/main" val="20000"/>
                    </a:ext>
                  </a:extLst>
                </a:gridCol>
                <a:gridCol w="8899855">
                  <a:extLst>
                    <a:ext uri="{9D8B030D-6E8A-4147-A177-3AD203B41FA5}">
                      <a16:colId xmlns:a16="http://schemas.microsoft.com/office/drawing/2014/main" val="20001"/>
                    </a:ext>
                  </a:extLst>
                </a:gridCol>
              </a:tblGrid>
              <a:tr h="621792">
                <a:tc>
                  <a:txBody>
                    <a:bodyPr/>
                    <a:lstStyle/>
                    <a:p>
                      <a:pPr marL="0" indent="0" algn="l">
                        <a:buNone/>
                      </a:pPr>
                      <a:r>
                        <a:rPr lang="en-US" sz="1800" b="1" dirty="0">
                          <a:solidFill>
                            <a:srgbClr val="1F3A5F"/>
                          </a:solidFill>
                          <a:latin typeface="Arial" pitchFamily="34" charset="0"/>
                          <a:ea typeface="Arial" pitchFamily="34" charset="-122"/>
                          <a:cs typeface="Arial" pitchFamily="34" charset="-120"/>
                        </a:rPr>
                        <a:t>Item</a:t>
                      </a:r>
                      <a:endParaRPr lang="en-US" sz="1800" dirty="0">
                        <a:latin typeface="Arial" charset="0"/>
                        <a:ea typeface="Arial" charset="0"/>
                        <a:cs typeface="Arial"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F3A5F"/>
                      </a:solidFill>
                      <a:prstDash val="solid"/>
                      <a:round/>
                      <a:headEnd type="none" w="med" len="med"/>
                      <a:tailEnd type="none" w="med" len="med"/>
                    </a:lnB>
                    <a:solidFill>
                      <a:srgbClr val="FFFFFF"/>
                    </a:solidFill>
                  </a:tcPr>
                </a:tc>
                <a:tc>
                  <a:txBody>
                    <a:bodyPr/>
                    <a:lstStyle/>
                    <a:p>
                      <a:pPr marL="0" indent="0" algn="l">
                        <a:buNone/>
                      </a:pPr>
                      <a:r>
                        <a:rPr lang="en-US" sz="1800" b="1" dirty="0">
                          <a:solidFill>
                            <a:srgbClr val="1F3A5F"/>
                          </a:solidFill>
                          <a:latin typeface="Arial" pitchFamily="34" charset="0"/>
                          <a:ea typeface="Arial" pitchFamily="34" charset="-122"/>
                          <a:cs typeface="Arial" pitchFamily="34" charset="-120"/>
                        </a:rPr>
                        <a:t>What we used</a:t>
                      </a:r>
                      <a:endParaRPr lang="en-US" sz="1800" dirty="0">
                        <a:latin typeface="Arial" charset="0"/>
                        <a:ea typeface="Arial" charset="0"/>
                        <a:cs typeface="Arial"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F3A5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621792">
                <a:tc>
                  <a:txBody>
                    <a:bodyPr/>
                    <a:lstStyle/>
                    <a:p>
                      <a:pPr marL="0" indent="0" algn="l">
                        <a:buNone/>
                      </a:pPr>
                      <a:r>
                        <a:rPr lang="en-US" sz="1800" b="1" dirty="0">
                          <a:solidFill>
                            <a:srgbClr val="1F2328"/>
                          </a:solidFill>
                          <a:latin typeface="Arial" pitchFamily="34" charset="0"/>
                          <a:ea typeface="Arial" pitchFamily="34" charset="-122"/>
                          <a:cs typeface="Arial" pitchFamily="34" charset="-120"/>
                        </a:rPr>
                        <a:t>Dataset</a:t>
                      </a:r>
                      <a:endParaRPr lang="en-US" sz="1800" dirty="0">
                        <a:latin typeface="Arial" charset="0"/>
                        <a:ea typeface="Arial" charset="0"/>
                        <a:cs typeface="Arial" charset="0"/>
                      </a:endParaRPr>
                    </a:p>
                  </a:txBody>
                  <a:tcPr marL="76200" marR="76200" marT="25400" marB="25400" anchor="ctr">
                    <a:lnL w="0" cap="flat" cmpd="sng" algn="ctr">
                      <a:noFill/>
                    </a:lnL>
                    <a:lnR w="0" cap="flat" cmpd="sng" algn="ctr">
                      <a:noFill/>
                    </a:lnR>
                    <a:lnT w="15875" cap="flat" cmpd="sng" algn="ctr">
                      <a:solidFill>
                        <a:srgbClr val="1F3A5F"/>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l">
                        <a:buNone/>
                      </a:pPr>
                      <a:r>
                        <a:rPr lang="en-US" sz="1800" dirty="0">
                          <a:solidFill>
                            <a:srgbClr val="1F2328"/>
                          </a:solidFill>
                          <a:latin typeface="Arial" pitchFamily="34" charset="0"/>
                          <a:ea typeface="Arial" pitchFamily="34" charset="-122"/>
                          <a:cs typeface="Arial" pitchFamily="34" charset="-120"/>
                        </a:rPr>
                        <a:t>Credit Card Fraud (ULB): 284,807 rows; 1,081 duplicates removed → 283,726 rows, 473 frauds</a:t>
                      </a:r>
                      <a:endParaRPr lang="en-US" sz="1800" dirty="0">
                        <a:latin typeface="Arial" charset="0"/>
                        <a:ea typeface="Arial" charset="0"/>
                        <a:cs typeface="Arial" charset="0"/>
                      </a:endParaRPr>
                    </a:p>
                  </a:txBody>
                  <a:tcPr marL="76200" marR="76200" marT="25400" marB="25400" anchor="ctr">
                    <a:lnL w="0" cap="flat" cmpd="sng" algn="ctr">
                      <a:noFill/>
                    </a:lnL>
                    <a:lnR w="0" cap="flat" cmpd="sng" algn="ctr">
                      <a:noFill/>
                    </a:lnR>
                    <a:lnT w="15875" cap="flat" cmpd="sng" algn="ctr">
                      <a:solidFill>
                        <a:srgbClr val="1F3A5F"/>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21792">
                <a:tc>
                  <a:txBody>
                    <a:bodyPr/>
                    <a:lstStyle/>
                    <a:p>
                      <a:pPr marL="0" indent="0" algn="l">
                        <a:buNone/>
                      </a:pPr>
                      <a:r>
                        <a:rPr lang="en-US" sz="1800" b="1" dirty="0">
                          <a:solidFill>
                            <a:srgbClr val="1F2328"/>
                          </a:solidFill>
                          <a:latin typeface="Arial" pitchFamily="34" charset="0"/>
                          <a:ea typeface="Arial" pitchFamily="34" charset="-122"/>
                          <a:cs typeface="Arial" pitchFamily="34" charset="-120"/>
                        </a:rPr>
                        <a:t>Split</a:t>
                      </a:r>
                      <a:endParaRPr lang="en-US" sz="18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l">
                        <a:buNone/>
                      </a:pPr>
                      <a:r>
                        <a:rPr lang="en-US" sz="1800" dirty="0">
                          <a:solidFill>
                            <a:srgbClr val="1F2328"/>
                          </a:solidFill>
                          <a:latin typeface="Arial" pitchFamily="34" charset="0"/>
                          <a:ea typeface="Arial" pitchFamily="34" charset="-122"/>
                          <a:cs typeface="Arial" pitchFamily="34" charset="-120"/>
                        </a:rPr>
                        <a:t>One stratified 60/20/20 split (seed 42). Train: 170,235 rows (284 frauds). Test: 56,746 rows (95 frauds). Validation part not used</a:t>
                      </a:r>
                      <a:endParaRPr lang="en-US" sz="18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21792">
                <a:tc>
                  <a:txBody>
                    <a:bodyPr/>
                    <a:lstStyle/>
                    <a:p>
                      <a:pPr marL="0" indent="0" algn="l">
                        <a:buNone/>
                      </a:pPr>
                      <a:r>
                        <a:rPr lang="en-US" sz="1800" b="1" dirty="0">
                          <a:solidFill>
                            <a:srgbClr val="1F2328"/>
                          </a:solidFill>
                          <a:latin typeface="Arial" pitchFamily="34" charset="0"/>
                          <a:ea typeface="Arial" pitchFamily="34" charset="-122"/>
                          <a:cs typeface="Arial" pitchFamily="34" charset="-120"/>
                        </a:rPr>
                        <a:t>Classifier</a:t>
                      </a:r>
                      <a:endParaRPr lang="en-US" sz="18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l">
                        <a:buNone/>
                      </a:pPr>
                      <a:r>
                        <a:rPr lang="en-US" sz="1800" dirty="0">
                          <a:solidFill>
                            <a:srgbClr val="1F2328"/>
                          </a:solidFill>
                          <a:latin typeface="Arial" pitchFamily="34" charset="0"/>
                          <a:ea typeface="Arial" pitchFamily="34" charset="-122"/>
                          <a:cs typeface="Arial" pitchFamily="34" charset="-120"/>
                        </a:rPr>
                        <a:t>HistGradientBoosting, 10 boosting rounds, no early stopping; the same for every method</a:t>
                      </a:r>
                      <a:endParaRPr lang="en-US" sz="18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21792">
                <a:tc>
                  <a:txBody>
                    <a:bodyPr/>
                    <a:lstStyle/>
                    <a:p>
                      <a:pPr marL="0" indent="0" algn="l">
                        <a:buNone/>
                      </a:pPr>
                      <a:r>
                        <a:rPr lang="en-US" sz="1800" b="1" dirty="0">
                          <a:solidFill>
                            <a:srgbClr val="1F2328"/>
                          </a:solidFill>
                          <a:latin typeface="Arial" pitchFamily="34" charset="0"/>
                          <a:ea typeface="Arial" pitchFamily="34" charset="-122"/>
                          <a:cs typeface="Arial" pitchFamily="34" charset="-120"/>
                        </a:rPr>
                        <a:t>SPE / UA-SPE</a:t>
                      </a:r>
                      <a:endParaRPr lang="en-US" sz="18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l">
                        <a:buNone/>
                      </a:pPr>
                      <a:r>
                        <a:rPr lang="en-US" sz="1800" dirty="0">
                          <a:solidFill>
                            <a:srgbClr val="1F2328"/>
                          </a:solidFill>
                          <a:latin typeface="Arial" pitchFamily="34" charset="0"/>
                          <a:ea typeface="Arial" pitchFamily="34" charset="-122"/>
                          <a:cs typeface="Arial" pitchFamily="34" charset="-120"/>
                        </a:rPr>
                        <a:t>10 classifiers, 20 hardness bins, 284 genuine rows each; γ ∈ {0, 1, 2, 4}</a:t>
                      </a:r>
                      <a:endParaRPr lang="en-US" sz="18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21792">
                <a:tc>
                  <a:txBody>
                    <a:bodyPr/>
                    <a:lstStyle/>
                    <a:p>
                      <a:pPr marL="0" indent="0" algn="l">
                        <a:buNone/>
                      </a:pPr>
                      <a:r>
                        <a:rPr lang="en-US" sz="1800" b="1" dirty="0">
                          <a:solidFill>
                            <a:srgbClr val="1F2328"/>
                          </a:solidFill>
                          <a:latin typeface="Arial" pitchFamily="34" charset="0"/>
                          <a:ea typeface="Arial" pitchFamily="34" charset="-122"/>
                          <a:cs typeface="Arial" pitchFamily="34" charset="-120"/>
                        </a:rPr>
                        <a:t>Baselines</a:t>
                      </a:r>
                      <a:endParaRPr lang="en-US" sz="18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l">
                        <a:buNone/>
                      </a:pPr>
                      <a:r>
                        <a:rPr lang="en-US" sz="1800" dirty="0">
                          <a:solidFill>
                            <a:srgbClr val="1F2328"/>
                          </a:solidFill>
                          <a:latin typeface="Arial" pitchFamily="34" charset="0"/>
                          <a:ea typeface="Arial" pitchFamily="34" charset="-122"/>
                          <a:cs typeface="Arial" pitchFamily="34" charset="-120"/>
                        </a:rPr>
                        <a:t>Plain training; random undersampling (1 and 10 classifiers); random oversampling; SMOTE; class-weighted training</a:t>
                      </a:r>
                      <a:endParaRPr lang="en-US" sz="18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21792">
                <a:tc>
                  <a:txBody>
                    <a:bodyPr/>
                    <a:lstStyle/>
                    <a:p>
                      <a:pPr marL="0" indent="0" algn="l">
                        <a:buNone/>
                      </a:pPr>
                      <a:r>
                        <a:rPr lang="en-US" sz="1800" b="1" dirty="0">
                          <a:solidFill>
                            <a:srgbClr val="1F2328"/>
                          </a:solidFill>
                          <a:latin typeface="Arial" pitchFamily="34" charset="0"/>
                          <a:ea typeface="Arial" pitchFamily="34" charset="-122"/>
                          <a:cs typeface="Arial" pitchFamily="34" charset="-120"/>
                        </a:rPr>
                        <a:t>Seeds</a:t>
                      </a:r>
                      <a:endParaRPr lang="en-US" sz="18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l">
                        <a:buNone/>
                      </a:pPr>
                      <a:r>
                        <a:rPr lang="en-US" sz="1800" dirty="0">
                          <a:solidFill>
                            <a:srgbClr val="1F2328"/>
                          </a:solidFill>
                          <a:latin typeface="Arial" pitchFamily="34" charset="0"/>
                          <a:ea typeface="Arial" pitchFamily="34" charset="-122"/>
                          <a:cs typeface="Arial" pitchFamily="34" charset="-120"/>
                        </a:rPr>
                        <a:t>5 sampling seeds (0–4) for every method: 11 methods × 5 = 55 runs</a:t>
                      </a:r>
                      <a:endParaRPr lang="en-US" sz="18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4415" cy="731520"/>
          </a:xfrm>
          <a:prstGeom prst="rect">
            <a:avLst/>
          </a:prstGeom>
          <a:noFill/>
          <a:ln/>
        </p:spPr>
        <p:txBody>
          <a:bodyPr wrap="square" lIns="0" tIns="0" rIns="0" bIns="0" rtlCol="0" anchor="ctr"/>
          <a:lstStyle/>
          <a:p>
            <a:pPr marL="0" indent="0">
              <a:buNone/>
            </a:pPr>
            <a:r>
              <a:rPr lang="en-US" sz="3200" b="1" dirty="0">
                <a:solidFill>
                  <a:srgbClr val="1F3A5F"/>
                </a:solidFill>
                <a:latin typeface="Arial" pitchFamily="34" charset="0"/>
                <a:ea typeface="Arial" pitchFamily="34" charset="-122"/>
                <a:cs typeface="Arial" pitchFamily="34" charset="-120"/>
              </a:rPr>
              <a:t>Evaluation metrics</a:t>
            </a:r>
            <a:endParaRPr lang="en-US" sz="3200" dirty="0"/>
          </a:p>
        </p:txBody>
      </p:sp>
      <p:sp>
        <p:nvSpPr>
          <p:cNvPr id="3" name="Shape 1"/>
          <p:cNvSpPr/>
          <p:nvPr/>
        </p:nvSpPr>
        <p:spPr>
          <a:xfrm>
            <a:off x="548640" y="6355080"/>
            <a:ext cx="11094415" cy="0"/>
          </a:xfrm>
          <a:prstGeom prst="line">
            <a:avLst/>
          </a:prstGeom>
          <a:noFill/>
          <a:ln w="9525">
            <a:solidFill>
              <a:srgbClr val="E3E6EA"/>
            </a:solidFill>
            <a:prstDash val="solid"/>
          </a:ln>
        </p:spPr>
      </p:sp>
      <p:sp>
        <p:nvSpPr>
          <p:cNvPr id="4" name="Text 2"/>
          <p:cNvSpPr/>
          <p:nvPr/>
        </p:nvSpPr>
        <p:spPr>
          <a:xfrm>
            <a:off x="548640" y="6400800"/>
            <a:ext cx="7315200" cy="274320"/>
          </a:xfrm>
          <a:prstGeom prst="rect">
            <a:avLst/>
          </a:prstGeom>
          <a:noFill/>
          <a:ln/>
        </p:spPr>
        <p:txBody>
          <a:bodyPr wrap="square" lIns="0" tIns="0" rIns="0" bIns="0" rtlCol="0" anchor="ctr"/>
          <a:lstStyle/>
          <a:p>
            <a:pPr marL="0" indent="0">
              <a:buNone/>
            </a:pPr>
            <a:r>
              <a:rPr lang="en-US" sz="1100" dirty="0">
                <a:solidFill>
                  <a:srgbClr val="5F6670"/>
                </a:solidFill>
                <a:latin typeface="Arial" pitchFamily="34" charset="0"/>
                <a:ea typeface="Arial" pitchFamily="34" charset="-122"/>
                <a:cs typeface="Arial" pitchFamily="34" charset="-120"/>
              </a:rPr>
              <a:t>DA 3011L · Uncertainty-Aware Self-Paced Ensemble</a:t>
            </a:r>
            <a:endParaRPr lang="en-US" sz="1100" dirty="0"/>
          </a:p>
        </p:txBody>
      </p:sp>
      <p:sp>
        <p:nvSpPr>
          <p:cNvPr id="5" name="Text 3"/>
          <p:cNvSpPr/>
          <p:nvPr/>
        </p:nvSpPr>
        <p:spPr>
          <a:xfrm>
            <a:off x="10728655" y="6400800"/>
            <a:ext cx="914400" cy="274320"/>
          </a:xfrm>
          <a:prstGeom prst="rect">
            <a:avLst/>
          </a:prstGeom>
          <a:noFill/>
          <a:ln/>
        </p:spPr>
        <p:txBody>
          <a:bodyPr wrap="square" lIns="0" tIns="0" rIns="0" bIns="0" rtlCol="0" anchor="ctr"/>
          <a:lstStyle/>
          <a:p>
            <a:pPr marL="0" indent="0" algn="r">
              <a:buNone/>
            </a:pPr>
            <a:r>
              <a:rPr lang="en-US" sz="1100" dirty="0">
                <a:solidFill>
                  <a:srgbClr val="5F6670"/>
                </a:solidFill>
                <a:latin typeface="Arial" pitchFamily="34" charset="0"/>
                <a:ea typeface="Arial" pitchFamily="34" charset="-122"/>
                <a:cs typeface="Arial" pitchFamily="34" charset="-120"/>
              </a:rPr>
              <a:t>8</a:t>
            </a:r>
            <a:endParaRPr lang="en-US" sz="1100" dirty="0"/>
          </a:p>
        </p:txBody>
      </p:sp>
      <p:sp>
        <p:nvSpPr>
          <p:cNvPr id="7" name="Shape 4"/>
          <p:cNvSpPr/>
          <p:nvPr/>
        </p:nvSpPr>
        <p:spPr>
          <a:xfrm>
            <a:off x="548640" y="1325880"/>
            <a:ext cx="3545738" cy="3154680"/>
          </a:xfrm>
          <a:prstGeom prst="rect">
            <a:avLst/>
          </a:prstGeom>
          <a:solidFill>
            <a:srgbClr val="FFFFFF"/>
          </a:solidFill>
          <a:ln w="19050">
            <a:solidFill>
              <a:srgbClr val="1F3A5F"/>
            </a:solidFill>
            <a:prstDash val="solid"/>
          </a:ln>
        </p:spPr>
      </p:sp>
      <p:sp>
        <p:nvSpPr>
          <p:cNvPr id="8" name="Text 5"/>
          <p:cNvSpPr/>
          <p:nvPr/>
        </p:nvSpPr>
        <p:spPr>
          <a:xfrm>
            <a:off x="731520" y="1463040"/>
            <a:ext cx="3179978" cy="411480"/>
          </a:xfrm>
          <a:prstGeom prst="rect">
            <a:avLst/>
          </a:prstGeom>
          <a:noFill/>
          <a:ln/>
        </p:spPr>
        <p:txBody>
          <a:bodyPr wrap="square" lIns="0" tIns="0" rIns="0" bIns="0" rtlCol="0" anchor="t"/>
          <a:lstStyle/>
          <a:p>
            <a:pPr marL="0" indent="0">
              <a:buNone/>
            </a:pPr>
            <a:r>
              <a:rPr lang="en-US" sz="1900" b="1" dirty="0">
                <a:solidFill>
                  <a:srgbClr val="1F3A5F"/>
                </a:solidFill>
                <a:latin typeface="Arial" pitchFamily="34" charset="0"/>
                <a:ea typeface="Arial" pitchFamily="34" charset="-122"/>
                <a:cs typeface="Arial" pitchFamily="34" charset="-120"/>
              </a:rPr>
              <a:t>Average Precision (main)</a:t>
            </a:r>
            <a:endParaRPr lang="en-US" sz="1900" dirty="0"/>
          </a:p>
        </p:txBody>
      </p:sp>
      <p:pic>
        <p:nvPicPr>
          <p:cNvPr id="9" name="Image 0" descr="/home/claude/work/deck2/eq/ap.png"/>
          <p:cNvPicPr>
            <a:picLocks noChangeAspect="1"/>
          </p:cNvPicPr>
          <p:nvPr/>
        </p:nvPicPr>
        <p:blipFill>
          <a:blip r:embed="rId3"/>
          <a:stretch>
            <a:fillRect/>
          </a:stretch>
        </p:blipFill>
        <p:spPr>
          <a:xfrm>
            <a:off x="868070" y="2057400"/>
            <a:ext cx="2906878" cy="681380"/>
          </a:xfrm>
          <a:prstGeom prst="rect">
            <a:avLst/>
          </a:prstGeom>
        </p:spPr>
      </p:pic>
      <p:sp>
        <p:nvSpPr>
          <p:cNvPr id="10" name="Text 6"/>
          <p:cNvSpPr/>
          <p:nvPr/>
        </p:nvSpPr>
        <p:spPr>
          <a:xfrm>
            <a:off x="731520" y="2880360"/>
            <a:ext cx="3179978" cy="1554480"/>
          </a:xfrm>
          <a:prstGeom prst="rect">
            <a:avLst/>
          </a:prstGeom>
          <a:noFill/>
          <a:ln/>
        </p:spPr>
        <p:txBody>
          <a:bodyPr wrap="square" lIns="0" tIns="0" rIns="0" bIns="0" rtlCol="0" anchor="t"/>
          <a:lstStyle/>
          <a:p>
            <a:pPr marL="0" indent="0">
              <a:buNone/>
            </a:pPr>
            <a:r>
              <a:rPr lang="en-US" sz="1800" dirty="0">
                <a:solidFill>
                  <a:srgbClr val="1F2328"/>
                </a:solidFill>
                <a:latin typeface="Arial" pitchFamily="34" charset="0"/>
                <a:ea typeface="Arial" pitchFamily="34" charset="-122"/>
                <a:cs typeface="Arial" pitchFamily="34" charset="-120"/>
              </a:rPr>
              <a:t>Area under the precision–recall curve. Uses only the ranking of the probabilities, so no threshold. Random guessing gives about 0.002 here.</a:t>
            </a:r>
            <a:endParaRPr lang="en-US" sz="1800" dirty="0"/>
          </a:p>
        </p:txBody>
      </p:sp>
      <p:sp>
        <p:nvSpPr>
          <p:cNvPr id="11" name="Shape 7"/>
          <p:cNvSpPr/>
          <p:nvPr/>
        </p:nvSpPr>
        <p:spPr>
          <a:xfrm>
            <a:off x="4322978" y="1325880"/>
            <a:ext cx="3545738" cy="3154680"/>
          </a:xfrm>
          <a:prstGeom prst="rect">
            <a:avLst/>
          </a:prstGeom>
          <a:solidFill>
            <a:srgbClr val="FFFFFF"/>
          </a:solidFill>
          <a:ln w="12700">
            <a:solidFill>
              <a:srgbClr val="9AA1AA"/>
            </a:solidFill>
            <a:prstDash val="solid"/>
          </a:ln>
        </p:spPr>
      </p:sp>
      <p:sp>
        <p:nvSpPr>
          <p:cNvPr id="12" name="Text 8"/>
          <p:cNvSpPr/>
          <p:nvPr/>
        </p:nvSpPr>
        <p:spPr>
          <a:xfrm>
            <a:off x="4505858" y="1463040"/>
            <a:ext cx="3179978" cy="411480"/>
          </a:xfrm>
          <a:prstGeom prst="rect">
            <a:avLst/>
          </a:prstGeom>
          <a:noFill/>
          <a:ln/>
        </p:spPr>
        <p:txBody>
          <a:bodyPr wrap="square" lIns="0" tIns="0" rIns="0" bIns="0" rtlCol="0" anchor="t"/>
          <a:lstStyle/>
          <a:p>
            <a:pPr marL="0" indent="0">
              <a:buNone/>
            </a:pPr>
            <a:r>
              <a:rPr lang="en-US" sz="1900" b="1" dirty="0">
                <a:solidFill>
                  <a:srgbClr val="1F3A5F"/>
                </a:solidFill>
                <a:latin typeface="Arial" pitchFamily="34" charset="0"/>
                <a:ea typeface="Arial" pitchFamily="34" charset="-122"/>
                <a:cs typeface="Arial" pitchFamily="34" charset="-120"/>
              </a:rPr>
              <a:t>G-mean at threshold 0.5</a:t>
            </a:r>
            <a:endParaRPr lang="en-US" sz="1900" dirty="0"/>
          </a:p>
        </p:txBody>
      </p:sp>
      <p:pic>
        <p:nvPicPr>
          <p:cNvPr id="13" name="Image 1" descr="/home/claude/work/deck2/eq/gmean.png"/>
          <p:cNvPicPr>
            <a:picLocks noChangeAspect="1"/>
          </p:cNvPicPr>
          <p:nvPr/>
        </p:nvPicPr>
        <p:blipFill>
          <a:blip r:embed="rId4"/>
          <a:stretch>
            <a:fillRect/>
          </a:stretch>
        </p:blipFill>
        <p:spPr>
          <a:xfrm>
            <a:off x="4476559" y="2057400"/>
            <a:ext cx="3238576" cy="370865"/>
          </a:xfrm>
          <a:prstGeom prst="rect">
            <a:avLst/>
          </a:prstGeom>
        </p:spPr>
      </p:pic>
      <p:sp>
        <p:nvSpPr>
          <p:cNvPr id="14" name="Text 9"/>
          <p:cNvSpPr/>
          <p:nvPr/>
        </p:nvSpPr>
        <p:spPr>
          <a:xfrm>
            <a:off x="4505858" y="2880360"/>
            <a:ext cx="3179978" cy="1554480"/>
          </a:xfrm>
          <a:prstGeom prst="rect">
            <a:avLst/>
          </a:prstGeom>
          <a:noFill/>
          <a:ln/>
        </p:spPr>
        <p:txBody>
          <a:bodyPr wrap="square" lIns="0" tIns="0" rIns="0" bIns="0" rtlCol="0" anchor="t"/>
          <a:lstStyle/>
          <a:p>
            <a:pPr marL="0" indent="0">
              <a:buNone/>
            </a:pPr>
            <a:r>
              <a:rPr lang="en-US" sz="1800" dirty="0">
                <a:solidFill>
                  <a:srgbClr val="1F2328"/>
                </a:solidFill>
                <a:latin typeface="Arial" pitchFamily="34" charset="0"/>
                <a:ea typeface="Arial" pitchFamily="34" charset="-122"/>
                <a:cs typeface="Arial" pitchFamily="34" charset="-120"/>
              </a:rPr>
              <a:t>Balances frauds caught (recall) and genuine rows left alone (specificity).</a:t>
            </a:r>
            <a:endParaRPr lang="en-US" sz="1800" dirty="0"/>
          </a:p>
        </p:txBody>
      </p:sp>
      <p:sp>
        <p:nvSpPr>
          <p:cNvPr id="15" name="Shape 10"/>
          <p:cNvSpPr/>
          <p:nvPr/>
        </p:nvSpPr>
        <p:spPr>
          <a:xfrm>
            <a:off x="8097317" y="1325880"/>
            <a:ext cx="3545738" cy="3154680"/>
          </a:xfrm>
          <a:prstGeom prst="rect">
            <a:avLst/>
          </a:prstGeom>
          <a:solidFill>
            <a:srgbClr val="FFFFFF"/>
          </a:solidFill>
          <a:ln w="12700">
            <a:solidFill>
              <a:srgbClr val="9AA1AA"/>
            </a:solidFill>
            <a:prstDash val="solid"/>
          </a:ln>
        </p:spPr>
      </p:sp>
      <p:sp>
        <p:nvSpPr>
          <p:cNvPr id="16" name="Text 11"/>
          <p:cNvSpPr/>
          <p:nvPr/>
        </p:nvSpPr>
        <p:spPr>
          <a:xfrm>
            <a:off x="8280197" y="1463040"/>
            <a:ext cx="3179978" cy="411480"/>
          </a:xfrm>
          <a:prstGeom prst="rect">
            <a:avLst/>
          </a:prstGeom>
          <a:noFill/>
          <a:ln/>
        </p:spPr>
        <p:txBody>
          <a:bodyPr wrap="square" lIns="0" tIns="0" rIns="0" bIns="0" rtlCol="0" anchor="t"/>
          <a:lstStyle/>
          <a:p>
            <a:pPr marL="0" indent="0">
              <a:buNone/>
            </a:pPr>
            <a:r>
              <a:rPr lang="en-US" sz="1900" b="1" dirty="0">
                <a:solidFill>
                  <a:srgbClr val="1F3A5F"/>
                </a:solidFill>
                <a:latin typeface="Arial" pitchFamily="34" charset="0"/>
                <a:ea typeface="Arial" pitchFamily="34" charset="-122"/>
                <a:cs typeface="Arial" pitchFamily="34" charset="-120"/>
              </a:rPr>
              <a:t>False alarms at 0.5</a:t>
            </a:r>
            <a:endParaRPr lang="en-US" sz="1900" dirty="0"/>
          </a:p>
        </p:txBody>
      </p:sp>
      <p:sp>
        <p:nvSpPr>
          <p:cNvPr id="17" name="Text 12"/>
          <p:cNvSpPr/>
          <p:nvPr/>
        </p:nvSpPr>
        <p:spPr>
          <a:xfrm>
            <a:off x="8280197" y="2103120"/>
            <a:ext cx="3179978" cy="457200"/>
          </a:xfrm>
          <a:prstGeom prst="rect">
            <a:avLst/>
          </a:prstGeom>
          <a:noFill/>
          <a:ln/>
        </p:spPr>
        <p:txBody>
          <a:bodyPr wrap="square" lIns="0" tIns="0" rIns="0" bIns="0" rtlCol="0" anchor="t"/>
          <a:lstStyle/>
          <a:p>
            <a:pPr marL="0" indent="0" algn="ctr">
              <a:buNone/>
            </a:pPr>
            <a:r>
              <a:rPr lang="en-US" sz="1800" i="1" dirty="0">
                <a:solidFill>
                  <a:srgbClr val="1F2328"/>
                </a:solidFill>
                <a:latin typeface="Arial" pitchFamily="34" charset="0"/>
                <a:ea typeface="Arial" pitchFamily="34" charset="-122"/>
                <a:cs typeface="Arial" pitchFamily="34" charset="-120"/>
              </a:rPr>
              <a:t>FP = genuine predicted as fraud</a:t>
            </a:r>
            <a:endParaRPr lang="en-US" sz="1800" dirty="0"/>
          </a:p>
        </p:txBody>
      </p:sp>
      <p:sp>
        <p:nvSpPr>
          <p:cNvPr id="18" name="Text 13"/>
          <p:cNvSpPr/>
          <p:nvPr/>
        </p:nvSpPr>
        <p:spPr>
          <a:xfrm>
            <a:off x="8280197" y="2880360"/>
            <a:ext cx="3179978" cy="1554480"/>
          </a:xfrm>
          <a:prstGeom prst="rect">
            <a:avLst/>
          </a:prstGeom>
          <a:noFill/>
          <a:ln/>
        </p:spPr>
        <p:txBody>
          <a:bodyPr wrap="square" lIns="0" tIns="0" rIns="0" bIns="0" rtlCol="0" anchor="t"/>
          <a:lstStyle/>
          <a:p>
            <a:pPr marL="0" indent="0">
              <a:buNone/>
            </a:pPr>
            <a:r>
              <a:rPr lang="en-US" sz="1800" dirty="0">
                <a:solidFill>
                  <a:srgbClr val="1F2328"/>
                </a:solidFill>
                <a:latin typeface="Arial" pitchFamily="34" charset="0"/>
                <a:ea typeface="Arial" pitchFamily="34" charset="-122"/>
                <a:cs typeface="Arial" pitchFamily="34" charset="-120"/>
              </a:rPr>
              <a:t>Genuine test transactions flagged as fraud, out of 56,651.</a:t>
            </a:r>
            <a:endParaRPr lang="en-US" sz="1800" dirty="0"/>
          </a:p>
        </p:txBody>
      </p:sp>
      <p:sp>
        <p:nvSpPr>
          <p:cNvPr id="19" name="Text 14"/>
          <p:cNvSpPr/>
          <p:nvPr/>
        </p:nvSpPr>
        <p:spPr>
          <a:xfrm>
            <a:off x="548640" y="4663440"/>
            <a:ext cx="11094415" cy="1645920"/>
          </a:xfrm>
          <a:prstGeom prst="rect">
            <a:avLst/>
          </a:prstGeom>
          <a:noFill/>
          <a:ln/>
        </p:spPr>
        <p:txBody>
          <a:bodyPr wrap="square" lIns="0" tIns="0" rIns="0" bIns="0" rtlCol="0" anchor="t"/>
          <a:lstStyle/>
          <a:p>
            <a:pPr marL="279400" indent="-279400">
              <a:spcAft>
                <a:spcPts val="600"/>
              </a:spcAft>
              <a:buSzPct val="100000"/>
              <a:buChar char="•"/>
            </a:pPr>
            <a:r>
              <a:rPr lang="en-US" sz="1800" dirty="0">
                <a:solidFill>
                  <a:srgbClr val="1F2328"/>
                </a:solidFill>
                <a:latin typeface="Arial" pitchFamily="34" charset="0"/>
                <a:ea typeface="Arial" pitchFamily="34" charset="-122"/>
                <a:cs typeface="Arial" pitchFamily="34" charset="-120"/>
              </a:rPr>
              <a:t>AP does not depend on a threshold; G-mean and false alarms do</a:t>
            </a:r>
            <a:endParaRPr lang="en-US" sz="1800" dirty="0"/>
          </a:p>
          <a:p>
            <a:pPr marL="279400" indent="-279400">
              <a:spcAft>
                <a:spcPts val="600"/>
              </a:spcAft>
              <a:buSzPct val="100000"/>
              <a:buChar char="•"/>
            </a:pPr>
            <a:r>
              <a:rPr lang="en-US" sz="1800" dirty="0">
                <a:solidFill>
                  <a:srgbClr val="1F2328"/>
                </a:solidFill>
                <a:latin typeface="Arial" pitchFamily="34" charset="0"/>
                <a:ea typeface="Arial" pitchFamily="34" charset="-122"/>
                <a:cs typeface="Arial" pitchFamily="34" charset="-120"/>
              </a:rPr>
              <a:t>We first planned G-mean as the main metric and switched to AP after seeing the baseline results; we report both</a:t>
            </a:r>
            <a:endParaRPr lang="en-US" sz="1800" dirty="0"/>
          </a:p>
          <a:p>
            <a:pPr marL="279400" indent="-279400">
              <a:spcAft>
                <a:spcPts val="600"/>
              </a:spcAft>
              <a:buSzPct val="100000"/>
              <a:buChar char="•"/>
            </a:pPr>
            <a:r>
              <a:rPr lang="en-US" sz="1800" dirty="0">
                <a:solidFill>
                  <a:srgbClr val="1F2328"/>
                </a:solidFill>
                <a:latin typeface="Arial" pitchFamily="34" charset="0"/>
                <a:ea typeface="Arial" pitchFamily="34" charset="-122"/>
                <a:cs typeface="Arial" pitchFamily="34" charset="-120"/>
              </a:rPr>
              <a:t>Variability: mean ± sd over 5 seeds, per-seed comparisons, and 1,000 bootstrap resamples of the test set</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4415" cy="731520"/>
          </a:xfrm>
          <a:prstGeom prst="rect">
            <a:avLst/>
          </a:prstGeom>
          <a:noFill/>
          <a:ln/>
        </p:spPr>
        <p:txBody>
          <a:bodyPr wrap="square" lIns="0" tIns="0" rIns="0" bIns="0" rtlCol="0" anchor="ctr"/>
          <a:lstStyle/>
          <a:p>
            <a:pPr marL="0" indent="0">
              <a:buNone/>
            </a:pPr>
            <a:r>
              <a:rPr lang="en-US" sz="3200" b="1" dirty="0">
                <a:solidFill>
                  <a:srgbClr val="1F3A5F"/>
                </a:solidFill>
                <a:latin typeface="Arial" pitchFamily="34" charset="0"/>
                <a:ea typeface="Arial" pitchFamily="34" charset="-122"/>
                <a:cs typeface="Arial" pitchFamily="34" charset="-120"/>
              </a:rPr>
              <a:t>SPE versus the tested baselines</a:t>
            </a:r>
            <a:endParaRPr lang="en-US" sz="3200" dirty="0"/>
          </a:p>
        </p:txBody>
      </p:sp>
      <p:sp>
        <p:nvSpPr>
          <p:cNvPr id="3" name="Shape 1"/>
          <p:cNvSpPr/>
          <p:nvPr/>
        </p:nvSpPr>
        <p:spPr>
          <a:xfrm>
            <a:off x="548640" y="6355080"/>
            <a:ext cx="11094415" cy="0"/>
          </a:xfrm>
          <a:prstGeom prst="line">
            <a:avLst/>
          </a:prstGeom>
          <a:noFill/>
          <a:ln w="9525">
            <a:solidFill>
              <a:srgbClr val="E3E6EA"/>
            </a:solidFill>
            <a:prstDash val="solid"/>
          </a:ln>
        </p:spPr>
      </p:sp>
      <p:sp>
        <p:nvSpPr>
          <p:cNvPr id="4" name="Text 2"/>
          <p:cNvSpPr/>
          <p:nvPr/>
        </p:nvSpPr>
        <p:spPr>
          <a:xfrm>
            <a:off x="548640" y="6400800"/>
            <a:ext cx="7315200" cy="274320"/>
          </a:xfrm>
          <a:prstGeom prst="rect">
            <a:avLst/>
          </a:prstGeom>
          <a:noFill/>
          <a:ln/>
        </p:spPr>
        <p:txBody>
          <a:bodyPr wrap="square" lIns="0" tIns="0" rIns="0" bIns="0" rtlCol="0" anchor="ctr"/>
          <a:lstStyle/>
          <a:p>
            <a:pPr marL="0" indent="0">
              <a:buNone/>
            </a:pPr>
            <a:r>
              <a:rPr lang="en-US" sz="1100" dirty="0">
                <a:solidFill>
                  <a:srgbClr val="5F6670"/>
                </a:solidFill>
                <a:latin typeface="Arial" pitchFamily="34" charset="0"/>
                <a:ea typeface="Arial" pitchFamily="34" charset="-122"/>
                <a:cs typeface="Arial" pitchFamily="34" charset="-120"/>
              </a:rPr>
              <a:t>DA 3011L · Uncertainty-Aware Self-Paced Ensemble</a:t>
            </a:r>
            <a:endParaRPr lang="en-US" sz="1100" dirty="0"/>
          </a:p>
        </p:txBody>
      </p:sp>
      <p:sp>
        <p:nvSpPr>
          <p:cNvPr id="5" name="Text 3"/>
          <p:cNvSpPr/>
          <p:nvPr/>
        </p:nvSpPr>
        <p:spPr>
          <a:xfrm>
            <a:off x="10728655" y="6400800"/>
            <a:ext cx="914400" cy="274320"/>
          </a:xfrm>
          <a:prstGeom prst="rect">
            <a:avLst/>
          </a:prstGeom>
          <a:noFill/>
          <a:ln/>
        </p:spPr>
        <p:txBody>
          <a:bodyPr wrap="square" lIns="0" tIns="0" rIns="0" bIns="0" rtlCol="0" anchor="ctr"/>
          <a:lstStyle/>
          <a:p>
            <a:pPr marL="0" indent="0" algn="r">
              <a:buNone/>
            </a:pPr>
            <a:r>
              <a:rPr lang="en-US" sz="1100" dirty="0">
                <a:solidFill>
                  <a:srgbClr val="5F6670"/>
                </a:solidFill>
                <a:latin typeface="Arial" pitchFamily="34" charset="0"/>
                <a:ea typeface="Arial" pitchFamily="34" charset="-122"/>
                <a:cs typeface="Arial" pitchFamily="34" charset="-120"/>
              </a:rPr>
              <a:t>9</a:t>
            </a:r>
            <a:endParaRPr lang="en-US" sz="1100" dirty="0"/>
          </a:p>
        </p:txBody>
      </p:sp>
      <p:graphicFrame>
        <p:nvGraphicFramePr>
          <p:cNvPr id="7" name="Chart 0"/>
          <p:cNvGraphicFramePr/>
          <p:nvPr/>
        </p:nvGraphicFramePr>
        <p:xfrm>
          <a:off x="548640" y="1234440"/>
          <a:ext cx="5303520" cy="42062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035040" y="1325880"/>
          <a:ext cx="5605272" cy="914400"/>
        </p:xfrm>
        <a:graphic>
          <a:graphicData uri="http://schemas.openxmlformats.org/drawingml/2006/table">
            <a:tbl>
              <a:tblPr/>
              <a:tblGrid>
                <a:gridCol w="22402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078992">
                  <a:extLst>
                    <a:ext uri="{9D8B030D-6E8A-4147-A177-3AD203B41FA5}">
                      <a16:colId xmlns:a16="http://schemas.microsoft.com/office/drawing/2014/main" val="20003"/>
                    </a:ext>
                  </a:extLst>
                </a:gridCol>
              </a:tblGrid>
              <a:tr h="429768">
                <a:tc>
                  <a:txBody>
                    <a:bodyPr/>
                    <a:lstStyle/>
                    <a:p>
                      <a:pPr marL="0" indent="0" algn="l">
                        <a:buNone/>
                      </a:pPr>
                      <a:r>
                        <a:rPr lang="en-US" sz="1500" b="1" dirty="0">
                          <a:solidFill>
                            <a:srgbClr val="1F3A5F"/>
                          </a:solidFill>
                          <a:latin typeface="Arial" pitchFamily="34" charset="0"/>
                          <a:ea typeface="Arial" pitchFamily="34" charset="-122"/>
                          <a:cs typeface="Arial" pitchFamily="34" charset="-120"/>
                        </a:rPr>
                        <a:t>Method</a:t>
                      </a:r>
                      <a:endParaRPr lang="en-US" sz="1500" dirty="0">
                        <a:latin typeface="Arial" charset="0"/>
                        <a:ea typeface="Arial" charset="0"/>
                        <a:cs typeface="Arial"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F3A5F"/>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1F3A5F"/>
                          </a:solidFill>
                          <a:latin typeface="Arial" pitchFamily="34" charset="0"/>
                          <a:ea typeface="Arial" pitchFamily="34" charset="-122"/>
                          <a:cs typeface="Arial" pitchFamily="34" charset="-120"/>
                        </a:rPr>
                        <a:t>AP ± sd</a:t>
                      </a:r>
                      <a:endParaRPr lang="en-US" sz="1500" dirty="0">
                        <a:latin typeface="Arial" charset="0"/>
                        <a:ea typeface="Arial" charset="0"/>
                        <a:cs typeface="Arial"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F3A5F"/>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1F3A5F"/>
                          </a:solidFill>
                          <a:latin typeface="Arial" pitchFamily="34" charset="0"/>
                          <a:ea typeface="Arial" pitchFamily="34" charset="-122"/>
                          <a:cs typeface="Arial" pitchFamily="34" charset="-120"/>
                        </a:rPr>
                        <a:t>G-mean</a:t>
                      </a:r>
                      <a:endParaRPr lang="en-US" sz="1500" dirty="0">
                        <a:latin typeface="Arial" charset="0"/>
                        <a:ea typeface="Arial" charset="0"/>
                        <a:cs typeface="Arial"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F3A5F"/>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1F3A5F"/>
                          </a:solidFill>
                          <a:latin typeface="Arial" pitchFamily="34" charset="0"/>
                          <a:ea typeface="Arial" pitchFamily="34" charset="-122"/>
                          <a:cs typeface="Arial" pitchFamily="34" charset="-120"/>
                        </a:rPr>
                        <a:t>False alarms</a:t>
                      </a:r>
                      <a:endParaRPr lang="en-US" sz="1500" dirty="0">
                        <a:latin typeface="Arial" charset="0"/>
                        <a:ea typeface="Arial" charset="0"/>
                        <a:cs typeface="Arial"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F3A5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29768">
                <a:tc>
                  <a:txBody>
                    <a:bodyPr/>
                    <a:lstStyle/>
                    <a:p>
                      <a:pPr marL="0" indent="0" algn="l">
                        <a:buNone/>
                      </a:pPr>
                      <a:r>
                        <a:rPr lang="en-US" sz="1500" b="1" dirty="0">
                          <a:solidFill>
                            <a:srgbClr val="1F2328"/>
                          </a:solidFill>
                          <a:latin typeface="Arial" pitchFamily="34" charset="0"/>
                          <a:ea typeface="Arial" pitchFamily="34" charset="-122"/>
                          <a:cs typeface="Arial" pitchFamily="34" charset="-120"/>
                        </a:rPr>
                        <a:t>SPE</a:t>
                      </a:r>
                      <a:endParaRPr lang="en-US" sz="1500" dirty="0">
                        <a:latin typeface="Arial" charset="0"/>
                        <a:ea typeface="Arial" charset="0"/>
                        <a:cs typeface="Arial" charset="0"/>
                      </a:endParaRPr>
                    </a:p>
                  </a:txBody>
                  <a:tcPr marL="76200" marR="76200" marT="25400" marB="25400" anchor="ctr">
                    <a:lnL w="0" cap="flat" cmpd="sng" algn="ctr">
                      <a:noFill/>
                    </a:lnL>
                    <a:lnR w="0" cap="flat" cmpd="sng" algn="ctr">
                      <a:noFill/>
                    </a:lnR>
                    <a:lnT w="15875" cap="flat" cmpd="sng" algn="ctr">
                      <a:solidFill>
                        <a:srgbClr val="1F3A5F"/>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EEF2F7"/>
                    </a:solidFill>
                  </a:tcPr>
                </a:tc>
                <a:tc>
                  <a:txBody>
                    <a:bodyPr/>
                    <a:lstStyle/>
                    <a:p>
                      <a:pPr marL="0" indent="0" algn="ctr">
                        <a:buNone/>
                      </a:pPr>
                      <a:r>
                        <a:rPr lang="en-US" sz="1500" b="1" dirty="0">
                          <a:solidFill>
                            <a:srgbClr val="1F2328"/>
                          </a:solidFill>
                          <a:latin typeface="Arial" pitchFamily="34" charset="0"/>
                          <a:ea typeface="Arial" pitchFamily="34" charset="-122"/>
                          <a:cs typeface="Arial" pitchFamily="34" charset="-120"/>
                        </a:rPr>
                        <a:t>0.842 ± 0.013</a:t>
                      </a:r>
                      <a:endParaRPr lang="en-US" sz="1500" dirty="0">
                        <a:latin typeface="Arial" charset="0"/>
                        <a:ea typeface="Arial" charset="0"/>
                        <a:cs typeface="Arial" charset="0"/>
                      </a:endParaRPr>
                    </a:p>
                  </a:txBody>
                  <a:tcPr marL="76200" marR="76200" marT="25400" marB="25400" anchor="ctr">
                    <a:lnL w="0" cap="flat" cmpd="sng" algn="ctr">
                      <a:noFill/>
                    </a:lnL>
                    <a:lnR w="0" cap="flat" cmpd="sng" algn="ctr">
                      <a:noFill/>
                    </a:lnR>
                    <a:lnT w="15875" cap="flat" cmpd="sng" algn="ctr">
                      <a:solidFill>
                        <a:srgbClr val="1F3A5F"/>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EEF2F7"/>
                    </a:solidFill>
                  </a:tcPr>
                </a:tc>
                <a:tc>
                  <a:txBody>
                    <a:bodyPr/>
                    <a:lstStyle/>
                    <a:p>
                      <a:pPr marL="0" indent="0" algn="ctr">
                        <a:buNone/>
                      </a:pPr>
                      <a:r>
                        <a:rPr lang="en-US" sz="1500" dirty="0">
                          <a:solidFill>
                            <a:srgbClr val="1F2328"/>
                          </a:solidFill>
                          <a:latin typeface="Arial" pitchFamily="34" charset="0"/>
                          <a:ea typeface="Arial" pitchFamily="34" charset="-122"/>
                          <a:cs typeface="Arial" pitchFamily="34" charset="-120"/>
                        </a:rPr>
                        <a:t>0.911</a:t>
                      </a:r>
                      <a:endParaRPr lang="en-US" sz="1500" dirty="0">
                        <a:latin typeface="Arial" charset="0"/>
                        <a:ea typeface="Arial" charset="0"/>
                        <a:cs typeface="Arial" charset="0"/>
                      </a:endParaRPr>
                    </a:p>
                  </a:txBody>
                  <a:tcPr marL="76200" marR="76200" marT="25400" marB="25400" anchor="ctr">
                    <a:lnL w="0" cap="flat" cmpd="sng" algn="ctr">
                      <a:noFill/>
                    </a:lnL>
                    <a:lnR w="0" cap="flat" cmpd="sng" algn="ctr">
                      <a:noFill/>
                    </a:lnR>
                    <a:lnT w="15875" cap="flat" cmpd="sng" algn="ctr">
                      <a:solidFill>
                        <a:srgbClr val="1F3A5F"/>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EEF2F7"/>
                    </a:solidFill>
                  </a:tcPr>
                </a:tc>
                <a:tc>
                  <a:txBody>
                    <a:bodyPr/>
                    <a:lstStyle/>
                    <a:p>
                      <a:pPr marL="0" indent="0" algn="ctr">
                        <a:buNone/>
                      </a:pPr>
                      <a:r>
                        <a:rPr lang="en-US" sz="1500" dirty="0">
                          <a:solidFill>
                            <a:srgbClr val="1F2328"/>
                          </a:solidFill>
                          <a:latin typeface="Arial" pitchFamily="34" charset="0"/>
                          <a:ea typeface="Arial" pitchFamily="34" charset="-122"/>
                          <a:cs typeface="Arial" pitchFamily="34" charset="-120"/>
                        </a:rPr>
                        <a:t>8</a:t>
                      </a:r>
                      <a:endParaRPr lang="en-US" sz="1500" dirty="0">
                        <a:latin typeface="Arial" charset="0"/>
                        <a:ea typeface="Arial" charset="0"/>
                        <a:cs typeface="Arial" charset="0"/>
                      </a:endParaRPr>
                    </a:p>
                  </a:txBody>
                  <a:tcPr marL="76200" marR="76200" marT="25400" marB="25400" anchor="ctr">
                    <a:lnL w="0" cap="flat" cmpd="sng" algn="ctr">
                      <a:noFill/>
                    </a:lnL>
                    <a:lnR w="0" cap="flat" cmpd="sng" algn="ctr">
                      <a:noFill/>
                    </a:lnR>
                    <a:lnT w="15875" cap="flat" cmpd="sng" algn="ctr">
                      <a:solidFill>
                        <a:srgbClr val="1F3A5F"/>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EEF2F7"/>
                    </a:solidFill>
                  </a:tcPr>
                </a:tc>
                <a:extLst>
                  <a:ext uri="{0D108BD9-81ED-4DB2-BD59-A6C34878D82A}">
                    <a16:rowId xmlns:a16="http://schemas.microsoft.com/office/drawing/2014/main" val="10001"/>
                  </a:ext>
                </a:extLst>
              </a:tr>
              <a:tr h="429768">
                <a:tc>
                  <a:txBody>
                    <a:bodyPr/>
                    <a:lstStyle/>
                    <a:p>
                      <a:pPr marL="0" indent="0" algn="l">
                        <a:buNone/>
                      </a:pPr>
                      <a:r>
                        <a:rPr lang="en-US" sz="1500" dirty="0">
                          <a:solidFill>
                            <a:srgbClr val="1F2328"/>
                          </a:solidFill>
                          <a:latin typeface="Arial" pitchFamily="34" charset="0"/>
                          <a:ea typeface="Arial" pitchFamily="34" charset="-122"/>
                          <a:cs typeface="Arial" pitchFamily="34" charset="-120"/>
                        </a:rPr>
                        <a:t>RUS, 10 classifiers</a:t>
                      </a:r>
                      <a:endParaRPr lang="en-US" sz="15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328"/>
                          </a:solidFill>
                          <a:latin typeface="Arial" pitchFamily="34" charset="0"/>
                          <a:ea typeface="Arial" pitchFamily="34" charset="-122"/>
                          <a:cs typeface="Arial" pitchFamily="34" charset="-120"/>
                        </a:rPr>
                        <a:t>0.735 ± 0.026</a:t>
                      </a:r>
                      <a:endParaRPr lang="en-US" sz="15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328"/>
                          </a:solidFill>
                          <a:latin typeface="Arial" pitchFamily="34" charset="0"/>
                          <a:ea typeface="Arial" pitchFamily="34" charset="-122"/>
                          <a:cs typeface="Arial" pitchFamily="34" charset="-120"/>
                        </a:rPr>
                        <a:t>0.926</a:t>
                      </a:r>
                      <a:endParaRPr lang="en-US" sz="15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328"/>
                          </a:solidFill>
                          <a:latin typeface="Arial" pitchFamily="34" charset="0"/>
                          <a:ea typeface="Arial" pitchFamily="34" charset="-122"/>
                          <a:cs typeface="Arial" pitchFamily="34" charset="-120"/>
                        </a:rPr>
                        <a:t>2,302</a:t>
                      </a:r>
                      <a:endParaRPr lang="en-US" sz="15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9768">
                <a:tc>
                  <a:txBody>
                    <a:bodyPr/>
                    <a:lstStyle/>
                    <a:p>
                      <a:pPr marL="0" indent="0" algn="l">
                        <a:buNone/>
                      </a:pPr>
                      <a:r>
                        <a:rPr lang="en-US" sz="1500" dirty="0">
                          <a:solidFill>
                            <a:srgbClr val="1F2328"/>
                          </a:solidFill>
                          <a:latin typeface="Arial" pitchFamily="34" charset="0"/>
                          <a:ea typeface="Arial" pitchFamily="34" charset="-122"/>
                          <a:cs typeface="Arial" pitchFamily="34" charset="-120"/>
                        </a:rPr>
                        <a:t>SMOTE</a:t>
                      </a:r>
                      <a:endParaRPr lang="en-US" sz="15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328"/>
                          </a:solidFill>
                          <a:latin typeface="Arial" pitchFamily="34" charset="0"/>
                          <a:ea typeface="Arial" pitchFamily="34" charset="-122"/>
                          <a:cs typeface="Arial" pitchFamily="34" charset="-120"/>
                        </a:rPr>
                        <a:t>0.716 ± 0.001</a:t>
                      </a:r>
                      <a:endParaRPr lang="en-US" sz="15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328"/>
                          </a:solidFill>
                          <a:latin typeface="Arial" pitchFamily="34" charset="0"/>
                          <a:ea typeface="Arial" pitchFamily="34" charset="-122"/>
                          <a:cs typeface="Arial" pitchFamily="34" charset="-120"/>
                        </a:rPr>
                        <a:t>0.917</a:t>
                      </a:r>
                      <a:endParaRPr lang="en-US" sz="15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328"/>
                          </a:solidFill>
                          <a:latin typeface="Arial" pitchFamily="34" charset="0"/>
                          <a:ea typeface="Arial" pitchFamily="34" charset="-122"/>
                          <a:cs typeface="Arial" pitchFamily="34" charset="-120"/>
                        </a:rPr>
                        <a:t>495</a:t>
                      </a:r>
                      <a:endParaRPr lang="en-US" sz="15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9768">
                <a:tc>
                  <a:txBody>
                    <a:bodyPr/>
                    <a:lstStyle/>
                    <a:p>
                      <a:pPr marL="0" indent="0" algn="l">
                        <a:buNone/>
                      </a:pPr>
                      <a:r>
                        <a:rPr lang="en-US" sz="1500" dirty="0">
                          <a:solidFill>
                            <a:srgbClr val="1F2328"/>
                          </a:solidFill>
                          <a:latin typeface="Arial" pitchFamily="34" charset="0"/>
                          <a:ea typeface="Arial" pitchFamily="34" charset="-122"/>
                          <a:cs typeface="Arial" pitchFamily="34" charset="-120"/>
                        </a:rPr>
                        <a:t>Random oversampling</a:t>
                      </a:r>
                      <a:endParaRPr lang="en-US" sz="15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328"/>
                          </a:solidFill>
                          <a:latin typeface="Arial" pitchFamily="34" charset="0"/>
                          <a:ea typeface="Arial" pitchFamily="34" charset="-122"/>
                          <a:cs typeface="Arial" pitchFamily="34" charset="-120"/>
                        </a:rPr>
                        <a:t>0.698 ± 0.009</a:t>
                      </a:r>
                      <a:endParaRPr lang="en-US" sz="15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328"/>
                          </a:solidFill>
                          <a:latin typeface="Arial" pitchFamily="34" charset="0"/>
                          <a:ea typeface="Arial" pitchFamily="34" charset="-122"/>
                          <a:cs typeface="Arial" pitchFamily="34" charset="-120"/>
                        </a:rPr>
                        <a:t>0.929</a:t>
                      </a:r>
                      <a:endParaRPr lang="en-US" sz="15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328"/>
                          </a:solidFill>
                          <a:latin typeface="Arial" pitchFamily="34" charset="0"/>
                          <a:ea typeface="Arial" pitchFamily="34" charset="-122"/>
                          <a:cs typeface="Arial" pitchFamily="34" charset="-120"/>
                        </a:rPr>
                        <a:t>311</a:t>
                      </a:r>
                      <a:endParaRPr lang="en-US" sz="15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9768">
                <a:tc>
                  <a:txBody>
                    <a:bodyPr/>
                    <a:lstStyle/>
                    <a:p>
                      <a:pPr marL="0" indent="0" algn="l">
                        <a:buNone/>
                      </a:pPr>
                      <a:r>
                        <a:rPr lang="en-US" sz="1500" dirty="0">
                          <a:solidFill>
                            <a:srgbClr val="1F2328"/>
                          </a:solidFill>
                          <a:latin typeface="Arial" pitchFamily="34" charset="0"/>
                          <a:ea typeface="Arial" pitchFamily="34" charset="-122"/>
                          <a:cs typeface="Arial" pitchFamily="34" charset="-120"/>
                        </a:rPr>
                        <a:t>Class-weighted</a:t>
                      </a:r>
                      <a:endParaRPr lang="en-US" sz="15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328"/>
                          </a:solidFill>
                          <a:latin typeface="Arial" pitchFamily="34" charset="0"/>
                          <a:ea typeface="Arial" pitchFamily="34" charset="-122"/>
                          <a:cs typeface="Arial" pitchFamily="34" charset="-120"/>
                        </a:rPr>
                        <a:t>0.673 (fixed)</a:t>
                      </a:r>
                      <a:endParaRPr lang="en-US" sz="15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328"/>
                          </a:solidFill>
                          <a:latin typeface="Arial" pitchFamily="34" charset="0"/>
                          <a:ea typeface="Arial" pitchFamily="34" charset="-122"/>
                          <a:cs typeface="Arial" pitchFamily="34" charset="-120"/>
                        </a:rPr>
                        <a:t>0.926</a:t>
                      </a:r>
                      <a:endParaRPr lang="en-US" sz="15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328"/>
                          </a:solidFill>
                          <a:latin typeface="Arial" pitchFamily="34" charset="0"/>
                          <a:ea typeface="Arial" pitchFamily="34" charset="-122"/>
                          <a:cs typeface="Arial" pitchFamily="34" charset="-120"/>
                        </a:rPr>
                        <a:t>356</a:t>
                      </a:r>
                      <a:endParaRPr lang="en-US" sz="15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9768">
                <a:tc>
                  <a:txBody>
                    <a:bodyPr/>
                    <a:lstStyle/>
                    <a:p>
                      <a:pPr marL="0" indent="0" algn="l">
                        <a:buNone/>
                      </a:pPr>
                      <a:r>
                        <a:rPr lang="en-US" sz="1500" dirty="0">
                          <a:solidFill>
                            <a:srgbClr val="1F2328"/>
                          </a:solidFill>
                          <a:latin typeface="Arial" pitchFamily="34" charset="0"/>
                          <a:ea typeface="Arial" pitchFamily="34" charset="-122"/>
                          <a:cs typeface="Arial" pitchFamily="34" charset="-120"/>
                        </a:rPr>
                        <a:t>Plain training</a:t>
                      </a:r>
                      <a:endParaRPr lang="en-US" sz="15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328"/>
                          </a:solidFill>
                          <a:latin typeface="Arial" pitchFamily="34" charset="0"/>
                          <a:ea typeface="Arial" pitchFamily="34" charset="-122"/>
                          <a:cs typeface="Arial" pitchFamily="34" charset="-120"/>
                        </a:rPr>
                        <a:t>0.580 (fixed)</a:t>
                      </a:r>
                      <a:endParaRPr lang="en-US" sz="15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328"/>
                          </a:solidFill>
                          <a:latin typeface="Arial" pitchFamily="34" charset="0"/>
                          <a:ea typeface="Arial" pitchFamily="34" charset="-122"/>
                          <a:cs typeface="Arial" pitchFamily="34" charset="-120"/>
                        </a:rPr>
                        <a:t>0.839</a:t>
                      </a:r>
                      <a:endParaRPr lang="en-US" sz="15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328"/>
                          </a:solidFill>
                          <a:latin typeface="Arial" pitchFamily="34" charset="0"/>
                          <a:ea typeface="Arial" pitchFamily="34" charset="-122"/>
                          <a:cs typeface="Arial" pitchFamily="34" charset="-120"/>
                        </a:rPr>
                        <a:t>98</a:t>
                      </a:r>
                      <a:endParaRPr lang="en-US" sz="15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29768">
                <a:tc>
                  <a:txBody>
                    <a:bodyPr/>
                    <a:lstStyle/>
                    <a:p>
                      <a:pPr marL="0" indent="0" algn="l">
                        <a:buNone/>
                      </a:pPr>
                      <a:r>
                        <a:rPr lang="en-US" sz="1500" dirty="0">
                          <a:solidFill>
                            <a:srgbClr val="1F2328"/>
                          </a:solidFill>
                          <a:latin typeface="Arial" pitchFamily="34" charset="0"/>
                          <a:ea typeface="Arial" pitchFamily="34" charset="-122"/>
                          <a:cs typeface="Arial" pitchFamily="34" charset="-120"/>
                        </a:rPr>
                        <a:t>RUS, 1 classifier</a:t>
                      </a:r>
                      <a:endParaRPr lang="en-US" sz="15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328"/>
                          </a:solidFill>
                          <a:latin typeface="Arial" pitchFamily="34" charset="0"/>
                          <a:ea typeface="Arial" pitchFamily="34" charset="-122"/>
                          <a:cs typeface="Arial" pitchFamily="34" charset="-120"/>
                        </a:rPr>
                        <a:t>0.552 ± 0.237</a:t>
                      </a:r>
                      <a:endParaRPr lang="en-US" sz="15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328"/>
                          </a:solidFill>
                          <a:latin typeface="Arial" pitchFamily="34" charset="0"/>
                          <a:ea typeface="Arial" pitchFamily="34" charset="-122"/>
                          <a:cs typeface="Arial" pitchFamily="34" charset="-120"/>
                        </a:rPr>
                        <a:t>0.924</a:t>
                      </a:r>
                      <a:endParaRPr lang="en-US" sz="15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328"/>
                          </a:solidFill>
                          <a:latin typeface="Arial" pitchFamily="34" charset="0"/>
                          <a:ea typeface="Arial" pitchFamily="34" charset="-122"/>
                          <a:cs typeface="Arial" pitchFamily="34" charset="-120"/>
                        </a:rPr>
                        <a:t>2,811</a:t>
                      </a:r>
                      <a:endParaRPr lang="en-US" sz="15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9" name="Text 4"/>
          <p:cNvSpPr/>
          <p:nvPr/>
        </p:nvSpPr>
        <p:spPr>
          <a:xfrm>
            <a:off x="6035040" y="4846320"/>
            <a:ext cx="5605272" cy="548640"/>
          </a:xfrm>
          <a:prstGeom prst="rect">
            <a:avLst/>
          </a:prstGeom>
          <a:noFill/>
          <a:ln/>
        </p:spPr>
        <p:txBody>
          <a:bodyPr wrap="square" lIns="0" tIns="0" rIns="0" bIns="0" rtlCol="0" anchor="t"/>
          <a:lstStyle/>
          <a:p>
            <a:pPr marL="0" indent="0">
              <a:buNone/>
            </a:pPr>
            <a:r>
              <a:rPr lang="en-US" sz="1300" dirty="0">
                <a:solidFill>
                  <a:srgbClr val="5F6670"/>
                </a:solidFill>
                <a:latin typeface="Arial" pitchFamily="34" charset="0"/>
                <a:ea typeface="Arial" pitchFamily="34" charset="-122"/>
                <a:cs typeface="Arial" pitchFamily="34" charset="-120"/>
              </a:rPr>
              <a:t>G-mean and false alarms at threshold 0.5. "Fixed": no randomness, same result on every seed.</a:t>
            </a:r>
            <a:endParaRPr lang="en-US" sz="1300" dirty="0"/>
          </a:p>
        </p:txBody>
      </p:sp>
      <p:sp>
        <p:nvSpPr>
          <p:cNvPr id="6" name="Shape 5"/>
          <p:cNvSpPr/>
          <p:nvPr/>
        </p:nvSpPr>
        <p:spPr>
          <a:xfrm>
            <a:off x="548640" y="5532120"/>
            <a:ext cx="11094415" cy="685800"/>
          </a:xfrm>
          <a:prstGeom prst="rect">
            <a:avLst/>
          </a:prstGeom>
          <a:solidFill>
            <a:srgbClr val="EEF2F7"/>
          </a:solidFill>
          <a:ln w="12700">
            <a:solidFill>
              <a:srgbClr val="EEF2F7"/>
            </a:solidFill>
            <a:prstDash val="solid"/>
          </a:ln>
        </p:spPr>
      </p:sp>
      <p:sp>
        <p:nvSpPr>
          <p:cNvPr id="11" name="Text 6"/>
          <p:cNvSpPr/>
          <p:nvPr/>
        </p:nvSpPr>
        <p:spPr>
          <a:xfrm>
            <a:off x="731520" y="5532120"/>
            <a:ext cx="10728655" cy="685800"/>
          </a:xfrm>
          <a:prstGeom prst="rect">
            <a:avLst/>
          </a:prstGeom>
          <a:noFill/>
          <a:ln/>
        </p:spPr>
        <p:txBody>
          <a:bodyPr wrap="square" lIns="0" tIns="0" rIns="0" bIns="0" rtlCol="0" anchor="ctr"/>
          <a:lstStyle/>
          <a:p>
            <a:pPr marL="0" indent="0">
              <a:buNone/>
            </a:pPr>
            <a:r>
              <a:rPr lang="en-US" sz="1800" dirty="0">
                <a:solidFill>
                  <a:srgbClr val="1F2328"/>
                </a:solidFill>
                <a:latin typeface="Arial" pitchFamily="34" charset="0"/>
                <a:ea typeface="Arial" pitchFamily="34" charset="-122"/>
                <a:cs typeface="Arial" pitchFamily="34" charset="-120"/>
              </a:rPr>
              <a:t>SPE had the highest AP on all 5 seeds. Five baselines had a higher G-mean, but with 311 to 2,811 false alarms instead of about 8.</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4415" cy="731520"/>
          </a:xfrm>
          <a:prstGeom prst="rect">
            <a:avLst/>
          </a:prstGeom>
          <a:noFill/>
          <a:ln/>
        </p:spPr>
        <p:txBody>
          <a:bodyPr wrap="square" lIns="0" tIns="0" rIns="0" bIns="0" rtlCol="0" anchor="ctr"/>
          <a:lstStyle/>
          <a:p>
            <a:pPr marL="0" indent="0">
              <a:buNone/>
            </a:pPr>
            <a:r>
              <a:rPr lang="en-US" sz="3200" b="1" dirty="0">
                <a:solidFill>
                  <a:srgbClr val="1F3A5F"/>
                </a:solidFill>
                <a:latin typeface="Arial" pitchFamily="34" charset="0"/>
                <a:ea typeface="Arial" pitchFamily="34" charset="-122"/>
                <a:cs typeface="Arial" pitchFamily="34" charset="-120"/>
              </a:rPr>
              <a:t>SPE versus UA-SPE for different values of γ</a:t>
            </a:r>
            <a:endParaRPr lang="en-US" sz="3200" dirty="0"/>
          </a:p>
        </p:txBody>
      </p:sp>
      <p:sp>
        <p:nvSpPr>
          <p:cNvPr id="3" name="Shape 1"/>
          <p:cNvSpPr/>
          <p:nvPr/>
        </p:nvSpPr>
        <p:spPr>
          <a:xfrm>
            <a:off x="548640" y="6355080"/>
            <a:ext cx="11094415" cy="0"/>
          </a:xfrm>
          <a:prstGeom prst="line">
            <a:avLst/>
          </a:prstGeom>
          <a:noFill/>
          <a:ln w="9525">
            <a:solidFill>
              <a:srgbClr val="E3E6EA"/>
            </a:solidFill>
            <a:prstDash val="solid"/>
          </a:ln>
        </p:spPr>
      </p:sp>
      <p:sp>
        <p:nvSpPr>
          <p:cNvPr id="4" name="Text 2"/>
          <p:cNvSpPr/>
          <p:nvPr/>
        </p:nvSpPr>
        <p:spPr>
          <a:xfrm>
            <a:off x="548640" y="6400800"/>
            <a:ext cx="7315200" cy="274320"/>
          </a:xfrm>
          <a:prstGeom prst="rect">
            <a:avLst/>
          </a:prstGeom>
          <a:noFill/>
          <a:ln/>
        </p:spPr>
        <p:txBody>
          <a:bodyPr wrap="square" lIns="0" tIns="0" rIns="0" bIns="0" rtlCol="0" anchor="ctr"/>
          <a:lstStyle/>
          <a:p>
            <a:pPr marL="0" indent="0">
              <a:buNone/>
            </a:pPr>
            <a:r>
              <a:rPr lang="en-US" sz="1100" dirty="0">
                <a:solidFill>
                  <a:srgbClr val="5F6670"/>
                </a:solidFill>
                <a:latin typeface="Arial" pitchFamily="34" charset="0"/>
                <a:ea typeface="Arial" pitchFamily="34" charset="-122"/>
                <a:cs typeface="Arial" pitchFamily="34" charset="-120"/>
              </a:rPr>
              <a:t>DA 3011L · Uncertainty-Aware Self-Paced Ensemble</a:t>
            </a:r>
            <a:endParaRPr lang="en-US" sz="1100" dirty="0"/>
          </a:p>
        </p:txBody>
      </p:sp>
      <p:sp>
        <p:nvSpPr>
          <p:cNvPr id="5" name="Text 3"/>
          <p:cNvSpPr/>
          <p:nvPr/>
        </p:nvSpPr>
        <p:spPr>
          <a:xfrm>
            <a:off x="10728655" y="6400800"/>
            <a:ext cx="914400" cy="274320"/>
          </a:xfrm>
          <a:prstGeom prst="rect">
            <a:avLst/>
          </a:prstGeom>
          <a:noFill/>
          <a:ln/>
        </p:spPr>
        <p:txBody>
          <a:bodyPr wrap="square" lIns="0" tIns="0" rIns="0" bIns="0" rtlCol="0" anchor="ctr"/>
          <a:lstStyle/>
          <a:p>
            <a:pPr marL="0" indent="0" algn="r">
              <a:buNone/>
            </a:pPr>
            <a:r>
              <a:rPr lang="en-US" sz="1100" dirty="0">
                <a:solidFill>
                  <a:srgbClr val="5F6670"/>
                </a:solidFill>
                <a:latin typeface="Arial" pitchFamily="34" charset="0"/>
                <a:ea typeface="Arial" pitchFamily="34" charset="-122"/>
                <a:cs typeface="Arial" pitchFamily="34" charset="-120"/>
              </a:rPr>
              <a:t>10</a:t>
            </a:r>
            <a:endParaRPr lang="en-US" sz="1100" dirty="0"/>
          </a:p>
        </p:txBody>
      </p:sp>
      <p:graphicFrame>
        <p:nvGraphicFramePr>
          <p:cNvPr id="7" name="Chart 0"/>
          <p:cNvGraphicFramePr/>
          <p:nvPr/>
        </p:nvGraphicFramePr>
        <p:xfrm>
          <a:off x="548640" y="1234440"/>
          <a:ext cx="5303520" cy="41605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035040" y="1325880"/>
          <a:ext cx="5605272" cy="914400"/>
        </p:xfrm>
        <a:graphic>
          <a:graphicData uri="http://schemas.openxmlformats.org/drawingml/2006/table">
            <a:tbl>
              <a:tblPr/>
              <a:tblGrid>
                <a:gridCol w="18288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033272">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429768">
                <a:tc>
                  <a:txBody>
                    <a:bodyPr/>
                    <a:lstStyle/>
                    <a:p>
                      <a:pPr marL="0" indent="0" algn="l">
                        <a:buNone/>
                      </a:pPr>
                      <a:r>
                        <a:rPr lang="en-US" sz="1600" b="1" dirty="0">
                          <a:solidFill>
                            <a:srgbClr val="1F3A5F"/>
                          </a:solidFill>
                          <a:latin typeface="Arial" pitchFamily="34" charset="0"/>
                          <a:ea typeface="Arial" pitchFamily="34" charset="-122"/>
                          <a:cs typeface="Arial" pitchFamily="34" charset="-120"/>
                        </a:rPr>
                        <a:t>Method</a:t>
                      </a:r>
                      <a:endParaRPr lang="en-US" sz="1600" dirty="0">
                        <a:latin typeface="Arial" charset="0"/>
                        <a:ea typeface="Arial" charset="0"/>
                        <a:cs typeface="Arial"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F3A5F"/>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1F3A5F"/>
                          </a:solidFill>
                          <a:latin typeface="Arial" pitchFamily="34" charset="0"/>
                          <a:ea typeface="Arial" pitchFamily="34" charset="-122"/>
                          <a:cs typeface="Arial" pitchFamily="34" charset="-120"/>
                        </a:rPr>
                        <a:t>AP ± sd</a:t>
                      </a:r>
                      <a:endParaRPr lang="en-US" sz="1600" dirty="0">
                        <a:latin typeface="Arial" charset="0"/>
                        <a:ea typeface="Arial" charset="0"/>
                        <a:cs typeface="Arial"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F3A5F"/>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1F3A5F"/>
                          </a:solidFill>
                          <a:latin typeface="Arial" pitchFamily="34" charset="0"/>
                          <a:ea typeface="Arial" pitchFamily="34" charset="-122"/>
                          <a:cs typeface="Arial" pitchFamily="34" charset="-120"/>
                        </a:rPr>
                        <a:t>G-mean</a:t>
                      </a:r>
                      <a:endParaRPr lang="en-US" sz="1600" dirty="0">
                        <a:latin typeface="Arial" charset="0"/>
                        <a:ea typeface="Arial" charset="0"/>
                        <a:cs typeface="Arial"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F3A5F"/>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1F3A5F"/>
                          </a:solidFill>
                          <a:latin typeface="Arial" pitchFamily="34" charset="0"/>
                          <a:ea typeface="Arial" pitchFamily="34" charset="-122"/>
                          <a:cs typeface="Arial" pitchFamily="34" charset="-120"/>
                        </a:rPr>
                        <a:t>False alarms</a:t>
                      </a:r>
                      <a:endParaRPr lang="en-US" sz="1600" dirty="0">
                        <a:latin typeface="Arial" charset="0"/>
                        <a:ea typeface="Arial" charset="0"/>
                        <a:cs typeface="Arial"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F3A5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29768">
                <a:tc>
                  <a:txBody>
                    <a:bodyPr/>
                    <a:lstStyle/>
                    <a:p>
                      <a:pPr marL="0" indent="0" algn="l">
                        <a:buNone/>
                      </a:pPr>
                      <a:r>
                        <a:rPr lang="en-US" sz="1600" dirty="0">
                          <a:solidFill>
                            <a:srgbClr val="1F2328"/>
                          </a:solidFill>
                          <a:latin typeface="Arial" pitchFamily="34" charset="0"/>
                          <a:ea typeface="Arial" pitchFamily="34" charset="-122"/>
                          <a:cs typeface="Arial" pitchFamily="34" charset="-120"/>
                        </a:rPr>
                        <a:t>SPE (= γ = 0)</a:t>
                      </a:r>
                      <a:endParaRPr lang="en-US" sz="1600" dirty="0">
                        <a:latin typeface="Arial" charset="0"/>
                        <a:ea typeface="Arial" charset="0"/>
                        <a:cs typeface="Arial" charset="0"/>
                      </a:endParaRPr>
                    </a:p>
                  </a:txBody>
                  <a:tcPr marL="76200" marR="76200" marT="25400" marB="25400" anchor="ctr">
                    <a:lnL w="0" cap="flat" cmpd="sng" algn="ctr">
                      <a:noFill/>
                    </a:lnL>
                    <a:lnR w="0" cap="flat" cmpd="sng" algn="ctr">
                      <a:noFill/>
                    </a:lnR>
                    <a:lnT w="15875" cap="flat" cmpd="sng" algn="ctr">
                      <a:solidFill>
                        <a:srgbClr val="1F3A5F"/>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F2328"/>
                          </a:solidFill>
                          <a:latin typeface="Arial" pitchFamily="34" charset="0"/>
                          <a:ea typeface="Arial" pitchFamily="34" charset="-122"/>
                          <a:cs typeface="Arial" pitchFamily="34" charset="-120"/>
                        </a:rPr>
                        <a:t>0.842 ± 0.013</a:t>
                      </a:r>
                      <a:endParaRPr lang="en-US" sz="1600" dirty="0">
                        <a:latin typeface="Arial" charset="0"/>
                        <a:ea typeface="Arial" charset="0"/>
                        <a:cs typeface="Arial" charset="0"/>
                      </a:endParaRPr>
                    </a:p>
                  </a:txBody>
                  <a:tcPr marL="76200" marR="76200" marT="25400" marB="25400" anchor="ctr">
                    <a:lnL w="0" cap="flat" cmpd="sng" algn="ctr">
                      <a:noFill/>
                    </a:lnL>
                    <a:lnR w="0" cap="flat" cmpd="sng" algn="ctr">
                      <a:noFill/>
                    </a:lnR>
                    <a:lnT w="15875" cap="flat" cmpd="sng" algn="ctr">
                      <a:solidFill>
                        <a:srgbClr val="1F3A5F"/>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F2328"/>
                          </a:solidFill>
                          <a:latin typeface="Arial" pitchFamily="34" charset="0"/>
                          <a:ea typeface="Arial" pitchFamily="34" charset="-122"/>
                          <a:cs typeface="Arial" pitchFamily="34" charset="-120"/>
                        </a:rPr>
                        <a:t>0.911</a:t>
                      </a:r>
                      <a:endParaRPr lang="en-US" sz="1600" dirty="0">
                        <a:latin typeface="Arial" charset="0"/>
                        <a:ea typeface="Arial" charset="0"/>
                        <a:cs typeface="Arial" charset="0"/>
                      </a:endParaRPr>
                    </a:p>
                  </a:txBody>
                  <a:tcPr marL="76200" marR="76200" marT="25400" marB="25400" anchor="ctr">
                    <a:lnL w="0" cap="flat" cmpd="sng" algn="ctr">
                      <a:noFill/>
                    </a:lnL>
                    <a:lnR w="0" cap="flat" cmpd="sng" algn="ctr">
                      <a:noFill/>
                    </a:lnR>
                    <a:lnT w="15875" cap="flat" cmpd="sng" algn="ctr">
                      <a:solidFill>
                        <a:srgbClr val="1F3A5F"/>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F2328"/>
                          </a:solidFill>
                          <a:latin typeface="Arial" pitchFamily="34" charset="0"/>
                          <a:ea typeface="Arial" pitchFamily="34" charset="-122"/>
                          <a:cs typeface="Arial" pitchFamily="34" charset="-120"/>
                        </a:rPr>
                        <a:t>8.2</a:t>
                      </a:r>
                      <a:endParaRPr lang="en-US" sz="1600" dirty="0">
                        <a:latin typeface="Arial" charset="0"/>
                        <a:ea typeface="Arial" charset="0"/>
                        <a:cs typeface="Arial" charset="0"/>
                      </a:endParaRPr>
                    </a:p>
                  </a:txBody>
                  <a:tcPr marL="76200" marR="76200" marT="25400" marB="25400" anchor="ctr">
                    <a:lnL w="0" cap="flat" cmpd="sng" algn="ctr">
                      <a:noFill/>
                    </a:lnL>
                    <a:lnR w="0" cap="flat" cmpd="sng" algn="ctr">
                      <a:noFill/>
                    </a:lnR>
                    <a:lnT w="15875" cap="flat" cmpd="sng" algn="ctr">
                      <a:solidFill>
                        <a:srgbClr val="1F3A5F"/>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9768">
                <a:tc>
                  <a:txBody>
                    <a:bodyPr/>
                    <a:lstStyle/>
                    <a:p>
                      <a:pPr marL="0" indent="0" algn="l">
                        <a:buNone/>
                      </a:pPr>
                      <a:r>
                        <a:rPr lang="en-US" sz="1600" dirty="0">
                          <a:solidFill>
                            <a:srgbClr val="1F2328"/>
                          </a:solidFill>
                          <a:latin typeface="Arial" pitchFamily="34" charset="0"/>
                          <a:ea typeface="Arial" pitchFamily="34" charset="-122"/>
                          <a:cs typeface="Arial" pitchFamily="34" charset="-120"/>
                        </a:rPr>
                        <a:t>UA-SPE γ = 1</a:t>
                      </a:r>
                      <a:endParaRPr lang="en-US" sz="16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F2328"/>
                          </a:solidFill>
                          <a:latin typeface="Arial" pitchFamily="34" charset="0"/>
                          <a:ea typeface="Arial" pitchFamily="34" charset="-122"/>
                          <a:cs typeface="Arial" pitchFamily="34" charset="-120"/>
                        </a:rPr>
                        <a:t>0.841 ± 0.014</a:t>
                      </a:r>
                      <a:endParaRPr lang="en-US" sz="16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F2328"/>
                          </a:solidFill>
                          <a:latin typeface="Arial" pitchFamily="34" charset="0"/>
                          <a:ea typeface="Arial" pitchFamily="34" charset="-122"/>
                          <a:cs typeface="Arial" pitchFamily="34" charset="-120"/>
                        </a:rPr>
                        <a:t>0.911</a:t>
                      </a:r>
                      <a:endParaRPr lang="en-US" sz="16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F2328"/>
                          </a:solidFill>
                          <a:latin typeface="Arial" pitchFamily="34" charset="0"/>
                          <a:ea typeface="Arial" pitchFamily="34" charset="-122"/>
                          <a:cs typeface="Arial" pitchFamily="34" charset="-120"/>
                        </a:rPr>
                        <a:t>8.2</a:t>
                      </a:r>
                      <a:endParaRPr lang="en-US" sz="16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9768">
                <a:tc>
                  <a:txBody>
                    <a:bodyPr/>
                    <a:lstStyle/>
                    <a:p>
                      <a:pPr marL="0" indent="0" algn="l">
                        <a:buNone/>
                      </a:pPr>
                      <a:r>
                        <a:rPr lang="en-US" sz="1600" b="1" dirty="0">
                          <a:solidFill>
                            <a:srgbClr val="1F2328"/>
                          </a:solidFill>
                          <a:latin typeface="Arial" pitchFamily="34" charset="0"/>
                          <a:ea typeface="Arial" pitchFamily="34" charset="-122"/>
                          <a:cs typeface="Arial" pitchFamily="34" charset="-120"/>
                        </a:rPr>
                        <a:t>UA-SPE γ = 2</a:t>
                      </a:r>
                      <a:endParaRPr lang="en-US" sz="16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1F2328"/>
                          </a:solidFill>
                          <a:latin typeface="Arial" pitchFamily="34" charset="0"/>
                          <a:ea typeface="Arial" pitchFamily="34" charset="-122"/>
                          <a:cs typeface="Arial" pitchFamily="34" charset="-120"/>
                        </a:rPr>
                        <a:t>0.849 ± 0.004</a:t>
                      </a:r>
                      <a:endParaRPr lang="en-US" sz="16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F2328"/>
                          </a:solidFill>
                          <a:latin typeface="Arial" pitchFamily="34" charset="0"/>
                          <a:ea typeface="Arial" pitchFamily="34" charset="-122"/>
                          <a:cs typeface="Arial" pitchFamily="34" charset="-120"/>
                        </a:rPr>
                        <a:t>0.913</a:t>
                      </a:r>
                      <a:endParaRPr lang="en-US" sz="16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F2328"/>
                          </a:solidFill>
                          <a:latin typeface="Arial" pitchFamily="34" charset="0"/>
                          <a:ea typeface="Arial" pitchFamily="34" charset="-122"/>
                          <a:cs typeface="Arial" pitchFamily="34" charset="-120"/>
                        </a:rPr>
                        <a:t>8.0</a:t>
                      </a:r>
                      <a:endParaRPr lang="en-US" sz="16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9768">
                <a:tc>
                  <a:txBody>
                    <a:bodyPr/>
                    <a:lstStyle/>
                    <a:p>
                      <a:pPr marL="0" indent="0" algn="l">
                        <a:buNone/>
                      </a:pPr>
                      <a:r>
                        <a:rPr lang="en-US" sz="1600" dirty="0">
                          <a:solidFill>
                            <a:srgbClr val="1F2328"/>
                          </a:solidFill>
                          <a:latin typeface="Arial" pitchFamily="34" charset="0"/>
                          <a:ea typeface="Arial" pitchFamily="34" charset="-122"/>
                          <a:cs typeface="Arial" pitchFamily="34" charset="-120"/>
                        </a:rPr>
                        <a:t>UA-SPE γ = 4</a:t>
                      </a:r>
                      <a:endParaRPr lang="en-US" sz="16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F2328"/>
                          </a:solidFill>
                          <a:latin typeface="Arial" pitchFamily="34" charset="0"/>
                          <a:ea typeface="Arial" pitchFamily="34" charset="-122"/>
                          <a:cs typeface="Arial" pitchFamily="34" charset="-120"/>
                        </a:rPr>
                        <a:t>0.841 ± 0.006</a:t>
                      </a:r>
                      <a:endParaRPr lang="en-US" sz="16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F2328"/>
                          </a:solidFill>
                          <a:latin typeface="Arial" pitchFamily="34" charset="0"/>
                          <a:ea typeface="Arial" pitchFamily="34" charset="-122"/>
                          <a:cs typeface="Arial" pitchFamily="34" charset="-120"/>
                        </a:rPr>
                        <a:t>0.907</a:t>
                      </a:r>
                      <a:endParaRPr lang="en-US" sz="16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F2328"/>
                          </a:solidFill>
                          <a:latin typeface="Arial" pitchFamily="34" charset="0"/>
                          <a:ea typeface="Arial" pitchFamily="34" charset="-122"/>
                          <a:cs typeface="Arial" pitchFamily="34" charset="-120"/>
                        </a:rPr>
                        <a:t>9.0</a:t>
                      </a:r>
                      <a:endParaRPr lang="en-US" sz="16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9" name="Shape 4"/>
          <p:cNvSpPr/>
          <p:nvPr/>
        </p:nvSpPr>
        <p:spPr>
          <a:xfrm>
            <a:off x="6035040" y="3703320"/>
            <a:ext cx="5605272" cy="2514600"/>
          </a:xfrm>
          <a:prstGeom prst="rect">
            <a:avLst/>
          </a:prstGeom>
          <a:solidFill>
            <a:srgbClr val="FFFFFF"/>
          </a:solidFill>
          <a:ln w="19050">
            <a:solidFill>
              <a:srgbClr val="1F3A5F"/>
            </a:solidFill>
            <a:prstDash val="solid"/>
          </a:ln>
        </p:spPr>
      </p:sp>
      <p:sp>
        <p:nvSpPr>
          <p:cNvPr id="10" name="Text 5"/>
          <p:cNvSpPr/>
          <p:nvPr/>
        </p:nvSpPr>
        <p:spPr>
          <a:xfrm>
            <a:off x="6217920" y="3794760"/>
            <a:ext cx="5257800" cy="365760"/>
          </a:xfrm>
          <a:prstGeom prst="rect">
            <a:avLst/>
          </a:prstGeom>
          <a:noFill/>
          <a:ln/>
        </p:spPr>
        <p:txBody>
          <a:bodyPr wrap="square" lIns="0" tIns="0" rIns="0" bIns="0" rtlCol="0" anchor="t"/>
          <a:lstStyle/>
          <a:p>
            <a:pPr marL="0" indent="0">
              <a:buNone/>
            </a:pPr>
            <a:r>
              <a:rPr lang="en-US" sz="1900" b="1" dirty="0">
                <a:solidFill>
                  <a:srgbClr val="1F3A5F"/>
                </a:solidFill>
                <a:latin typeface="Arial" pitchFamily="34" charset="0"/>
                <a:ea typeface="Arial" pitchFamily="34" charset="-122"/>
                <a:cs typeface="Arial" pitchFamily="34" charset="-120"/>
              </a:rPr>
              <a:t>γ = 2 versus SPE</a:t>
            </a:r>
            <a:endParaRPr lang="en-US" sz="1900" dirty="0"/>
          </a:p>
        </p:txBody>
      </p:sp>
      <p:sp>
        <p:nvSpPr>
          <p:cNvPr id="6" name="Text 6"/>
          <p:cNvSpPr/>
          <p:nvPr/>
        </p:nvSpPr>
        <p:spPr>
          <a:xfrm>
            <a:off x="6217920" y="4206240"/>
            <a:ext cx="5257800" cy="1965960"/>
          </a:xfrm>
          <a:prstGeom prst="rect">
            <a:avLst/>
          </a:prstGeom>
          <a:noFill/>
          <a:ln/>
        </p:spPr>
        <p:txBody>
          <a:bodyPr wrap="square" lIns="0" tIns="0" rIns="0" bIns="0" rtlCol="0" anchor="t"/>
          <a:lstStyle/>
          <a:p>
            <a:pPr marL="279400" indent="-279400">
              <a:spcAft>
                <a:spcPts val="600"/>
              </a:spcAft>
              <a:buSzPct val="100000"/>
              <a:buChar char="•"/>
            </a:pPr>
            <a:r>
              <a:rPr lang="en-US" sz="1700" dirty="0">
                <a:solidFill>
                  <a:srgbClr val="1F2328"/>
                </a:solidFill>
                <a:latin typeface="Arial" pitchFamily="34" charset="0"/>
                <a:ea typeface="Arial" pitchFamily="34" charset="-122"/>
                <a:cs typeface="Arial" pitchFamily="34" charset="-120"/>
              </a:rPr>
              <a:t>AP difference +0.007; higher on 3 of 5 seeds</a:t>
            </a:r>
            <a:endParaRPr lang="en-US" sz="1700" dirty="0"/>
          </a:p>
          <a:p>
            <a:pPr marL="279400" indent="-279400">
              <a:spcAft>
                <a:spcPts val="600"/>
              </a:spcAft>
              <a:buSzPct val="100000"/>
              <a:buChar char="•"/>
            </a:pPr>
            <a:r>
              <a:rPr lang="en-US" sz="1700" dirty="0">
                <a:solidFill>
                  <a:srgbClr val="1F2328"/>
                </a:solidFill>
                <a:latin typeface="Arial" pitchFamily="34" charset="0"/>
                <a:ea typeface="Arial" pitchFamily="34" charset="-122"/>
                <a:cs typeface="Arial" pitchFamily="34" charset="-120"/>
              </a:rPr>
              <a:t>Bootstrap 95% interval [−0.003, 0.018] includes zero</a:t>
            </a:r>
            <a:endParaRPr lang="en-US" sz="1700" dirty="0"/>
          </a:p>
          <a:p>
            <a:pPr marL="279400" indent="-279400">
              <a:spcAft>
                <a:spcPts val="600"/>
              </a:spcAft>
              <a:buSzPct val="100000"/>
              <a:buChar char="•"/>
            </a:pPr>
            <a:r>
              <a:rPr lang="en-US" sz="1700" dirty="0">
                <a:solidFill>
                  <a:srgbClr val="1F2328"/>
                </a:solidFill>
                <a:latin typeface="Arial" pitchFamily="34" charset="0"/>
                <a:ea typeface="Arial" pitchFamily="34" charset="-122"/>
                <a:cs typeface="Arial" pitchFamily="34" charset="-120"/>
              </a:rPr>
              <a:t>UA-SPE had a slightly higher score, but we cannot conclude that the improvement is reliable</a:t>
            </a:r>
            <a:endParaRPr lang="en-US" sz="1700" dirty="0"/>
          </a:p>
        </p:txBody>
      </p:sp>
      <p:sp>
        <p:nvSpPr>
          <p:cNvPr id="12" name="Text 7"/>
          <p:cNvSpPr/>
          <p:nvPr/>
        </p:nvSpPr>
        <p:spPr>
          <a:xfrm>
            <a:off x="548640" y="5577840"/>
            <a:ext cx="5394960" cy="640080"/>
          </a:xfrm>
          <a:prstGeom prst="rect">
            <a:avLst/>
          </a:prstGeom>
          <a:noFill/>
          <a:ln/>
        </p:spPr>
        <p:txBody>
          <a:bodyPr wrap="square" lIns="0" tIns="0" rIns="0" bIns="0" rtlCol="0" anchor="t"/>
          <a:lstStyle/>
          <a:p>
            <a:pPr marL="0" indent="0">
              <a:buNone/>
            </a:pPr>
            <a:r>
              <a:rPr lang="en-US" sz="1400" dirty="0">
                <a:solidFill>
                  <a:srgbClr val="5F6670"/>
                </a:solidFill>
                <a:latin typeface="Arial" pitchFamily="34" charset="0"/>
                <a:ea typeface="Arial" pitchFamily="34" charset="-122"/>
                <a:cs typeface="Arial" pitchFamily="34" charset="-120"/>
              </a:rPr>
              <a:t>γ = 0 gave exactly the same results as SPE on every seed (control check).</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4415" cy="731520"/>
          </a:xfrm>
          <a:prstGeom prst="rect">
            <a:avLst/>
          </a:prstGeom>
          <a:noFill/>
          <a:ln/>
        </p:spPr>
        <p:txBody>
          <a:bodyPr wrap="square" lIns="0" tIns="0" rIns="0" bIns="0" rtlCol="0" anchor="ctr"/>
          <a:lstStyle/>
          <a:p>
            <a:pPr marL="0" indent="0">
              <a:buNone/>
            </a:pPr>
            <a:r>
              <a:rPr lang="en-US" sz="3200" b="1" dirty="0">
                <a:solidFill>
                  <a:srgbClr val="1F3A5F"/>
                </a:solidFill>
                <a:latin typeface="Arial" pitchFamily="34" charset="0"/>
                <a:ea typeface="Arial" pitchFamily="34" charset="-122"/>
                <a:cs typeface="Arial" pitchFamily="34" charset="-120"/>
              </a:rPr>
              <a:t>Why the uncertainty-based improvement was small</a:t>
            </a:r>
            <a:endParaRPr lang="en-US" sz="3200" dirty="0"/>
          </a:p>
        </p:txBody>
      </p:sp>
      <p:sp>
        <p:nvSpPr>
          <p:cNvPr id="3" name="Shape 1"/>
          <p:cNvSpPr/>
          <p:nvPr/>
        </p:nvSpPr>
        <p:spPr>
          <a:xfrm>
            <a:off x="548640" y="6355080"/>
            <a:ext cx="11094415" cy="0"/>
          </a:xfrm>
          <a:prstGeom prst="line">
            <a:avLst/>
          </a:prstGeom>
          <a:noFill/>
          <a:ln w="9525">
            <a:solidFill>
              <a:srgbClr val="E3E6EA"/>
            </a:solidFill>
            <a:prstDash val="solid"/>
          </a:ln>
        </p:spPr>
      </p:sp>
      <p:sp>
        <p:nvSpPr>
          <p:cNvPr id="4" name="Text 2"/>
          <p:cNvSpPr/>
          <p:nvPr/>
        </p:nvSpPr>
        <p:spPr>
          <a:xfrm>
            <a:off x="548640" y="6400800"/>
            <a:ext cx="7315200" cy="274320"/>
          </a:xfrm>
          <a:prstGeom prst="rect">
            <a:avLst/>
          </a:prstGeom>
          <a:noFill/>
          <a:ln/>
        </p:spPr>
        <p:txBody>
          <a:bodyPr wrap="square" lIns="0" tIns="0" rIns="0" bIns="0" rtlCol="0" anchor="ctr"/>
          <a:lstStyle/>
          <a:p>
            <a:pPr marL="0" indent="0">
              <a:buNone/>
            </a:pPr>
            <a:r>
              <a:rPr lang="en-US" sz="1100" dirty="0">
                <a:solidFill>
                  <a:srgbClr val="5F6670"/>
                </a:solidFill>
                <a:latin typeface="Arial" pitchFamily="34" charset="0"/>
                <a:ea typeface="Arial" pitchFamily="34" charset="-122"/>
                <a:cs typeface="Arial" pitchFamily="34" charset="-120"/>
              </a:rPr>
              <a:t>DA 3011L · Uncertainty-Aware Self-Paced Ensemble</a:t>
            </a:r>
            <a:endParaRPr lang="en-US" sz="1100" dirty="0"/>
          </a:p>
        </p:txBody>
      </p:sp>
      <p:sp>
        <p:nvSpPr>
          <p:cNvPr id="5" name="Text 3"/>
          <p:cNvSpPr/>
          <p:nvPr/>
        </p:nvSpPr>
        <p:spPr>
          <a:xfrm>
            <a:off x="10728655" y="6400800"/>
            <a:ext cx="914400" cy="274320"/>
          </a:xfrm>
          <a:prstGeom prst="rect">
            <a:avLst/>
          </a:prstGeom>
          <a:noFill/>
          <a:ln/>
        </p:spPr>
        <p:txBody>
          <a:bodyPr wrap="square" lIns="0" tIns="0" rIns="0" bIns="0" rtlCol="0" anchor="ctr"/>
          <a:lstStyle/>
          <a:p>
            <a:pPr marL="0" indent="0" algn="r">
              <a:buNone/>
            </a:pPr>
            <a:r>
              <a:rPr lang="en-US" sz="1100" dirty="0">
                <a:solidFill>
                  <a:srgbClr val="5F6670"/>
                </a:solidFill>
                <a:latin typeface="Arial" pitchFamily="34" charset="0"/>
                <a:ea typeface="Arial" pitchFamily="34" charset="-122"/>
                <a:cs typeface="Arial" pitchFamily="34" charset="-120"/>
              </a:rPr>
              <a:t>11</a:t>
            </a:r>
            <a:endParaRPr lang="en-US" sz="1100" dirty="0"/>
          </a:p>
        </p:txBody>
      </p:sp>
      <p:graphicFrame>
        <p:nvGraphicFramePr>
          <p:cNvPr id="7" name="Chart 0"/>
          <p:cNvGraphicFramePr/>
          <p:nvPr/>
        </p:nvGraphicFramePr>
        <p:xfrm>
          <a:off x="548640" y="1234440"/>
          <a:ext cx="576072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4"/>
          <p:cNvSpPr/>
          <p:nvPr/>
        </p:nvSpPr>
        <p:spPr>
          <a:xfrm>
            <a:off x="548640" y="5577840"/>
            <a:ext cx="5760720" cy="320040"/>
          </a:xfrm>
          <a:prstGeom prst="rect">
            <a:avLst/>
          </a:prstGeom>
          <a:noFill/>
          <a:ln/>
        </p:spPr>
        <p:txBody>
          <a:bodyPr wrap="square" lIns="0" tIns="0" rIns="0" bIns="0" rtlCol="0" anchor="t"/>
          <a:lstStyle/>
          <a:p>
            <a:pPr marL="0" indent="0">
              <a:buNone/>
            </a:pPr>
            <a:r>
              <a:rPr lang="en-US" sz="1300" dirty="0">
                <a:solidFill>
                  <a:srgbClr val="5F6670"/>
                </a:solidFill>
                <a:latin typeface="Arial" pitchFamily="34" charset="0"/>
                <a:ea typeface="Arial" pitchFamily="34" charset="-122"/>
                <a:cs typeface="Arial" pitchFamily="34" charset="-120"/>
              </a:rPr>
              <a:t>Note: bins have unequal widths.</a:t>
            </a:r>
            <a:endParaRPr lang="en-US" sz="1300" dirty="0"/>
          </a:p>
        </p:txBody>
      </p:sp>
      <p:sp>
        <p:nvSpPr>
          <p:cNvPr id="9" name="Text 5"/>
          <p:cNvSpPr/>
          <p:nvPr/>
        </p:nvSpPr>
        <p:spPr>
          <a:xfrm>
            <a:off x="6583680" y="1325880"/>
            <a:ext cx="5056632" cy="4846320"/>
          </a:xfrm>
          <a:prstGeom prst="rect">
            <a:avLst/>
          </a:prstGeom>
          <a:noFill/>
          <a:ln/>
        </p:spPr>
        <p:txBody>
          <a:bodyPr wrap="square" lIns="0" tIns="0" rIns="0" bIns="0" rtlCol="0" anchor="t"/>
          <a:lstStyle/>
          <a:p>
            <a:pPr marL="279400" indent="-279400">
              <a:spcAft>
                <a:spcPts val="1000"/>
              </a:spcAft>
              <a:buSzPct val="100000"/>
              <a:buChar char="•"/>
            </a:pPr>
            <a:r>
              <a:rPr lang="en-US" sz="1800" dirty="0">
                <a:solidFill>
                  <a:srgbClr val="1F2328"/>
                </a:solidFill>
                <a:latin typeface="Arial" pitchFamily="34" charset="0"/>
                <a:ea typeface="Arial" pitchFamily="34" charset="-122"/>
                <a:cs typeface="Arial" pitchFamily="34" charset="-120"/>
              </a:rPr>
              <a:t>Most Ũ values were close to 1: median 0.991, and 90% of rows above 0.97</a:t>
            </a:r>
            <a:endParaRPr lang="en-US" sz="1800" dirty="0"/>
          </a:p>
          <a:p>
            <a:pPr marL="279400" indent="-279400">
              <a:spcAft>
                <a:spcPts val="1000"/>
              </a:spcAft>
              <a:buSzPct val="100000"/>
              <a:buChar char="•"/>
            </a:pPr>
            <a:r>
              <a:rPr lang="en-US" sz="1800" dirty="0">
                <a:solidFill>
                  <a:srgbClr val="1F2328"/>
                </a:solidFill>
                <a:latin typeface="Arial" pitchFamily="34" charset="0"/>
                <a:ea typeface="Arial" pitchFamily="34" charset="-122"/>
                <a:cs typeface="Arial" pitchFamily="34" charset="-120"/>
              </a:rPr>
              <a:t>The 10 classifiers gave very similar probabilities (average variance about 0.0025)</a:t>
            </a:r>
            <a:endParaRPr lang="en-US" sz="1800" dirty="0"/>
          </a:p>
          <a:p>
            <a:pPr marL="279400" indent="-279400">
              <a:spcAft>
                <a:spcPts val="1000"/>
              </a:spcAft>
              <a:buSzPct val="100000"/>
              <a:buChar char="•"/>
            </a:pPr>
            <a:r>
              <a:rPr lang="en-US" sz="1800" dirty="0">
                <a:solidFill>
                  <a:srgbClr val="1F2328"/>
                </a:solidFill>
                <a:latin typeface="Arial" pitchFamily="34" charset="0"/>
                <a:ea typeface="Arial" pitchFamily="34" charset="-122"/>
                <a:cs typeface="Arial" pitchFamily="34" charset="-120"/>
              </a:rPr>
              <a:t>Numbers close to 1 stay close to 1 after raising them to a power, so the weights were almost equal</a:t>
            </a:r>
            <a:endParaRPr lang="en-US" sz="1800" dirty="0"/>
          </a:p>
          <a:p>
            <a:pPr marL="279400" indent="-279400">
              <a:spcAft>
                <a:spcPts val="1000"/>
              </a:spcAft>
              <a:buSzPct val="100000"/>
              <a:buChar char="•"/>
            </a:pPr>
            <a:r>
              <a:rPr lang="en-US" sz="1800" dirty="0">
                <a:solidFill>
                  <a:srgbClr val="1F2328"/>
                </a:solidFill>
                <a:latin typeface="Arial" pitchFamily="34" charset="0"/>
                <a:ea typeface="Arial" pitchFamily="34" charset="-122"/>
                <a:cs typeface="Arial" pitchFamily="34" charset="-120"/>
              </a:rPr>
              <a:t>Selection probability moved away from SPE: 1.3%, 2.5% and 5.1% for γ = 1, 2 and 4</a:t>
            </a:r>
            <a:endParaRPr lang="en-US" sz="1800" dirty="0"/>
          </a:p>
          <a:p>
            <a:pPr marL="279400" indent="-279400">
              <a:spcAft>
                <a:spcPts val="1000"/>
              </a:spcAft>
              <a:buSzPct val="100000"/>
              <a:buChar char="•"/>
            </a:pPr>
            <a:r>
              <a:rPr lang="en-US" sz="1800" dirty="0">
                <a:solidFill>
                  <a:srgbClr val="1F2328"/>
                </a:solidFill>
                <a:latin typeface="Arial" pitchFamily="34" charset="0"/>
                <a:ea typeface="Arial" pitchFamily="34" charset="-122"/>
                <a:cs typeface="Arial" pitchFamily="34" charset="-120"/>
              </a:rPr>
              <a:t>So the sampling distribution changed only modestly</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4415" cy="731520"/>
          </a:xfrm>
          <a:prstGeom prst="rect">
            <a:avLst/>
          </a:prstGeom>
          <a:noFill/>
          <a:ln/>
        </p:spPr>
        <p:txBody>
          <a:bodyPr wrap="square" lIns="0" tIns="0" rIns="0" bIns="0" rtlCol="0" anchor="ctr"/>
          <a:lstStyle/>
          <a:p>
            <a:pPr marL="0" indent="0">
              <a:buNone/>
            </a:pPr>
            <a:r>
              <a:rPr lang="en-US" sz="3200" b="1" dirty="0">
                <a:solidFill>
                  <a:srgbClr val="1F3A5F"/>
                </a:solidFill>
                <a:latin typeface="Arial" pitchFamily="34" charset="0"/>
                <a:ea typeface="Arial" pitchFamily="34" charset="-122"/>
                <a:cs typeface="Arial" pitchFamily="34" charset="-120"/>
              </a:rPr>
              <a:t>Conclusions and limitations</a:t>
            </a:r>
            <a:endParaRPr lang="en-US" sz="3200" dirty="0"/>
          </a:p>
        </p:txBody>
      </p:sp>
      <p:sp>
        <p:nvSpPr>
          <p:cNvPr id="3" name="Shape 1"/>
          <p:cNvSpPr/>
          <p:nvPr/>
        </p:nvSpPr>
        <p:spPr>
          <a:xfrm>
            <a:off x="548640" y="6355080"/>
            <a:ext cx="11094415" cy="0"/>
          </a:xfrm>
          <a:prstGeom prst="line">
            <a:avLst/>
          </a:prstGeom>
          <a:noFill/>
          <a:ln w="9525">
            <a:solidFill>
              <a:srgbClr val="E3E6EA"/>
            </a:solidFill>
            <a:prstDash val="solid"/>
          </a:ln>
        </p:spPr>
      </p:sp>
      <p:sp>
        <p:nvSpPr>
          <p:cNvPr id="4" name="Text 2"/>
          <p:cNvSpPr/>
          <p:nvPr/>
        </p:nvSpPr>
        <p:spPr>
          <a:xfrm>
            <a:off x="548640" y="6400800"/>
            <a:ext cx="7315200" cy="274320"/>
          </a:xfrm>
          <a:prstGeom prst="rect">
            <a:avLst/>
          </a:prstGeom>
          <a:noFill/>
          <a:ln/>
        </p:spPr>
        <p:txBody>
          <a:bodyPr wrap="square" lIns="0" tIns="0" rIns="0" bIns="0" rtlCol="0" anchor="ctr"/>
          <a:lstStyle/>
          <a:p>
            <a:pPr marL="0" indent="0">
              <a:buNone/>
            </a:pPr>
            <a:r>
              <a:rPr lang="en-US" sz="1100" dirty="0">
                <a:solidFill>
                  <a:srgbClr val="5F6670"/>
                </a:solidFill>
                <a:latin typeface="Arial" pitchFamily="34" charset="0"/>
                <a:ea typeface="Arial" pitchFamily="34" charset="-122"/>
                <a:cs typeface="Arial" pitchFamily="34" charset="-120"/>
              </a:rPr>
              <a:t>DA 3011L · Uncertainty-Aware Self-Paced Ensemble</a:t>
            </a:r>
            <a:endParaRPr lang="en-US" sz="1100" dirty="0"/>
          </a:p>
        </p:txBody>
      </p:sp>
      <p:sp>
        <p:nvSpPr>
          <p:cNvPr id="5" name="Text 3"/>
          <p:cNvSpPr/>
          <p:nvPr/>
        </p:nvSpPr>
        <p:spPr>
          <a:xfrm>
            <a:off x="10728655" y="6400800"/>
            <a:ext cx="914400" cy="274320"/>
          </a:xfrm>
          <a:prstGeom prst="rect">
            <a:avLst/>
          </a:prstGeom>
          <a:noFill/>
          <a:ln/>
        </p:spPr>
        <p:txBody>
          <a:bodyPr wrap="square" lIns="0" tIns="0" rIns="0" bIns="0" rtlCol="0" anchor="ctr"/>
          <a:lstStyle/>
          <a:p>
            <a:pPr marL="0" indent="0" algn="r">
              <a:buNone/>
            </a:pPr>
            <a:r>
              <a:rPr lang="en-US" sz="1100" dirty="0">
                <a:solidFill>
                  <a:srgbClr val="5F6670"/>
                </a:solidFill>
                <a:latin typeface="Arial" pitchFamily="34" charset="0"/>
                <a:ea typeface="Arial" pitchFamily="34" charset="-122"/>
                <a:cs typeface="Arial" pitchFamily="34" charset="-120"/>
              </a:rPr>
              <a:t>12</a:t>
            </a:r>
            <a:endParaRPr lang="en-US" sz="1100" dirty="0"/>
          </a:p>
        </p:txBody>
      </p:sp>
      <p:sp>
        <p:nvSpPr>
          <p:cNvPr id="7" name="Text 4"/>
          <p:cNvSpPr/>
          <p:nvPr/>
        </p:nvSpPr>
        <p:spPr>
          <a:xfrm>
            <a:off x="548640" y="1280160"/>
            <a:ext cx="5364328" cy="411480"/>
          </a:xfrm>
          <a:prstGeom prst="rect">
            <a:avLst/>
          </a:prstGeom>
          <a:noFill/>
          <a:ln/>
        </p:spPr>
        <p:txBody>
          <a:bodyPr wrap="square" lIns="0" tIns="0" rIns="0" bIns="0" rtlCol="0" anchor="t"/>
          <a:lstStyle/>
          <a:p>
            <a:pPr marL="0" indent="0">
              <a:buNone/>
            </a:pPr>
            <a:r>
              <a:rPr lang="en-US" sz="2200" b="1" dirty="0">
                <a:solidFill>
                  <a:srgbClr val="1F3A5F"/>
                </a:solidFill>
                <a:latin typeface="Arial" pitchFamily="34" charset="0"/>
                <a:ea typeface="Arial" pitchFamily="34" charset="-122"/>
                <a:cs typeface="Arial" pitchFamily="34" charset="-120"/>
              </a:rPr>
              <a:t>What we found</a:t>
            </a:r>
            <a:endParaRPr lang="en-US" sz="2200" dirty="0"/>
          </a:p>
        </p:txBody>
      </p:sp>
      <p:sp>
        <p:nvSpPr>
          <p:cNvPr id="8" name="Text 5"/>
          <p:cNvSpPr/>
          <p:nvPr/>
        </p:nvSpPr>
        <p:spPr>
          <a:xfrm>
            <a:off x="548640" y="1783080"/>
            <a:ext cx="5364328" cy="4389120"/>
          </a:xfrm>
          <a:prstGeom prst="rect">
            <a:avLst/>
          </a:prstGeom>
          <a:noFill/>
          <a:ln/>
        </p:spPr>
        <p:txBody>
          <a:bodyPr wrap="square" lIns="0" tIns="0" rIns="0" bIns="0" rtlCol="0" anchor="t"/>
          <a:lstStyle/>
          <a:p>
            <a:pPr marL="279400" indent="-279400">
              <a:spcAft>
                <a:spcPts val="1000"/>
              </a:spcAft>
              <a:buSzPct val="100000"/>
              <a:buChar char="•"/>
            </a:pPr>
            <a:r>
              <a:rPr lang="en-US" sz="1900" dirty="0">
                <a:solidFill>
                  <a:srgbClr val="1F2328"/>
                </a:solidFill>
                <a:latin typeface="Arial" pitchFamily="34" charset="0"/>
                <a:ea typeface="Arial" pitchFamily="34" charset="-122"/>
                <a:cs typeface="Arial" pitchFamily="34" charset="-120"/>
              </a:rPr>
              <a:t>SPE ranked frauds better than all six baselines on every seed (AP 0.842 vs 0.55–0.74)</a:t>
            </a:r>
            <a:endParaRPr lang="en-US" sz="1900" dirty="0"/>
          </a:p>
          <a:p>
            <a:pPr marL="279400" indent="-279400">
              <a:spcAft>
                <a:spcPts val="1000"/>
              </a:spcAft>
              <a:buSzPct val="100000"/>
              <a:buChar char="•"/>
            </a:pPr>
            <a:r>
              <a:rPr lang="en-US" sz="1900" dirty="0">
                <a:solidFill>
                  <a:srgbClr val="1F2328"/>
                </a:solidFill>
                <a:latin typeface="Arial" pitchFamily="34" charset="0"/>
                <a:ea typeface="Arial" pitchFamily="34" charset="-122"/>
                <a:cs typeface="Arial" pitchFamily="34" charset="-120"/>
              </a:rPr>
              <a:t>Baselines with a higher G-mean at 0.5 raised many more false alarms</a:t>
            </a:r>
            <a:endParaRPr lang="en-US" sz="1900" dirty="0"/>
          </a:p>
          <a:p>
            <a:pPr marL="279400" indent="-279400">
              <a:spcAft>
                <a:spcPts val="1000"/>
              </a:spcAft>
              <a:buSzPct val="100000"/>
              <a:buChar char="•"/>
            </a:pPr>
            <a:r>
              <a:rPr lang="en-US" sz="1900" dirty="0">
                <a:solidFill>
                  <a:srgbClr val="1F2328"/>
                </a:solidFill>
                <a:latin typeface="Arial" pitchFamily="34" charset="0"/>
                <a:ea typeface="Arial" pitchFamily="34" charset="-122"/>
                <a:cs typeface="Arial" pitchFamily="34" charset="-120"/>
              </a:rPr>
              <a:t>UA-SPE γ = 2 had the highest mean AP (0.849), but the gain over SPE is small and not statistically conclusive</a:t>
            </a:r>
            <a:endParaRPr lang="en-US" sz="1900" dirty="0"/>
          </a:p>
          <a:p>
            <a:pPr marL="279400" indent="-279400">
              <a:spcAft>
                <a:spcPts val="1000"/>
              </a:spcAft>
              <a:buSzPct val="100000"/>
              <a:buChar char="•"/>
            </a:pPr>
            <a:r>
              <a:rPr lang="en-US" sz="1900" dirty="0">
                <a:solidFill>
                  <a:srgbClr val="1F2328"/>
                </a:solidFill>
                <a:latin typeface="Arial" pitchFamily="34" charset="0"/>
                <a:ea typeface="Arial" pitchFamily="34" charset="-122"/>
                <a:cs typeface="Arial" pitchFamily="34" charset="-120"/>
              </a:rPr>
              <a:t>γ = 1 and γ = 4 did not improve on SPE</a:t>
            </a:r>
            <a:endParaRPr lang="en-US" sz="1900" dirty="0"/>
          </a:p>
        </p:txBody>
      </p:sp>
      <p:sp>
        <p:nvSpPr>
          <p:cNvPr id="9" name="Shape 6"/>
          <p:cNvSpPr/>
          <p:nvPr/>
        </p:nvSpPr>
        <p:spPr>
          <a:xfrm>
            <a:off x="6095848" y="1325880"/>
            <a:ext cx="0" cy="4754880"/>
          </a:xfrm>
          <a:prstGeom prst="line">
            <a:avLst/>
          </a:prstGeom>
          <a:noFill/>
          <a:ln w="12700">
            <a:solidFill>
              <a:srgbClr val="E3E6EA"/>
            </a:solidFill>
            <a:prstDash val="solid"/>
          </a:ln>
        </p:spPr>
      </p:sp>
      <p:sp>
        <p:nvSpPr>
          <p:cNvPr id="10" name="Text 7"/>
          <p:cNvSpPr/>
          <p:nvPr/>
        </p:nvSpPr>
        <p:spPr>
          <a:xfrm>
            <a:off x="6278728" y="1280160"/>
            <a:ext cx="5364328" cy="411480"/>
          </a:xfrm>
          <a:prstGeom prst="rect">
            <a:avLst/>
          </a:prstGeom>
          <a:noFill/>
          <a:ln/>
        </p:spPr>
        <p:txBody>
          <a:bodyPr wrap="square" lIns="0" tIns="0" rIns="0" bIns="0" rtlCol="0" anchor="t"/>
          <a:lstStyle/>
          <a:p>
            <a:pPr marL="0" indent="0">
              <a:buNone/>
            </a:pPr>
            <a:r>
              <a:rPr lang="en-US" sz="2200" b="1" dirty="0">
                <a:solidFill>
                  <a:srgbClr val="1F3A5F"/>
                </a:solidFill>
                <a:latin typeface="Arial" pitchFamily="34" charset="0"/>
                <a:ea typeface="Arial" pitchFamily="34" charset="-122"/>
                <a:cs typeface="Arial" pitchFamily="34" charset="-120"/>
              </a:rPr>
              <a:t>Limitations</a:t>
            </a:r>
            <a:endParaRPr lang="en-US" sz="2200" dirty="0"/>
          </a:p>
        </p:txBody>
      </p:sp>
      <p:sp>
        <p:nvSpPr>
          <p:cNvPr id="11" name="Text 8"/>
          <p:cNvSpPr/>
          <p:nvPr/>
        </p:nvSpPr>
        <p:spPr>
          <a:xfrm>
            <a:off x="6278728" y="1783080"/>
            <a:ext cx="5364328" cy="4389120"/>
          </a:xfrm>
          <a:prstGeom prst="rect">
            <a:avLst/>
          </a:prstGeom>
          <a:noFill/>
          <a:ln/>
        </p:spPr>
        <p:txBody>
          <a:bodyPr wrap="square" lIns="0" tIns="0" rIns="0" bIns="0" rtlCol="0" anchor="t"/>
          <a:lstStyle/>
          <a:p>
            <a:pPr marL="279400" indent="-279400">
              <a:spcAft>
                <a:spcPts val="1000"/>
              </a:spcAft>
              <a:buSzPct val="100000"/>
              <a:buChar char="•"/>
            </a:pPr>
            <a:r>
              <a:rPr lang="en-US" sz="1900" dirty="0">
                <a:solidFill>
                  <a:srgbClr val="1F2328"/>
                </a:solidFill>
                <a:latin typeface="Arial" pitchFamily="34" charset="0"/>
                <a:ea typeface="Arial" pitchFamily="34" charset="-122"/>
                <a:cs typeface="Arial" pitchFamily="34" charset="-120"/>
              </a:rPr>
              <a:t>One dataset, one fixed split, five seeds</a:t>
            </a:r>
            <a:endParaRPr lang="en-US" sz="1900" dirty="0"/>
          </a:p>
          <a:p>
            <a:pPr marL="279400" indent="-279400">
              <a:spcAft>
                <a:spcPts val="1000"/>
              </a:spcAft>
              <a:buSzPct val="100000"/>
              <a:buChar char="•"/>
            </a:pPr>
            <a:r>
              <a:rPr lang="en-US" sz="1900" dirty="0">
                <a:solidFill>
                  <a:srgbClr val="1F2328"/>
                </a:solidFill>
                <a:latin typeface="Arial" pitchFamily="34" charset="0"/>
                <a:ea typeface="Arial" pitchFamily="34" charset="-122"/>
                <a:cs typeface="Arial" pitchFamily="34" charset="-120"/>
              </a:rPr>
              <a:t>Only 95 test frauds: one fraud changes recall by about 0.01</a:t>
            </a:r>
            <a:endParaRPr lang="en-US" sz="1900" dirty="0"/>
          </a:p>
          <a:p>
            <a:pPr marL="279400" indent="-279400">
              <a:spcAft>
                <a:spcPts val="1000"/>
              </a:spcAft>
              <a:buSzPct val="100000"/>
              <a:buChar char="•"/>
            </a:pPr>
            <a:r>
              <a:rPr lang="en-US" sz="1900" dirty="0">
                <a:solidFill>
                  <a:srgbClr val="1F2328"/>
                </a:solidFill>
                <a:latin typeface="Arial" pitchFamily="34" charset="0"/>
                <a:ea typeface="Arial" pitchFamily="34" charset="-122"/>
                <a:cs typeface="Arial" pitchFamily="34" charset="-120"/>
              </a:rPr>
              <a:t>One classifier type, fixed threshold 0.5, no tuning</a:t>
            </a:r>
            <a:endParaRPr lang="en-US" sz="1900" dirty="0"/>
          </a:p>
          <a:p>
            <a:pPr marL="279400" indent="-279400">
              <a:spcAft>
                <a:spcPts val="1000"/>
              </a:spcAft>
              <a:buSzPct val="100000"/>
              <a:buChar char="•"/>
            </a:pPr>
            <a:r>
              <a:rPr lang="en-US" sz="1900" dirty="0">
                <a:solidFill>
                  <a:srgbClr val="1F2328"/>
                </a:solidFill>
                <a:latin typeface="Arial" pitchFamily="34" charset="0"/>
                <a:ea typeface="Arial" pitchFamily="34" charset="-122"/>
                <a:cs typeface="Arial" pitchFamily="34" charset="-120"/>
              </a:rPr>
              <a:t>Ũ is computed partly on rows the classifiers were trained on</a:t>
            </a:r>
            <a:endParaRPr lang="en-US" sz="1900" dirty="0"/>
          </a:p>
          <a:p>
            <a:pPr marL="279400" indent="-279400">
              <a:spcAft>
                <a:spcPts val="1000"/>
              </a:spcAft>
              <a:buSzPct val="100000"/>
              <a:buChar char="•"/>
            </a:pPr>
            <a:r>
              <a:rPr lang="en-US" sz="1900" dirty="0">
                <a:solidFill>
                  <a:srgbClr val="1F2328"/>
                </a:solidFill>
                <a:latin typeface="Arial" pitchFamily="34" charset="0"/>
                <a:ea typeface="Arial" pitchFamily="34" charset="-122"/>
                <a:cs typeface="Arial" pitchFamily="34" charset="-120"/>
              </a:rPr>
              <a:t>Our plain-training AP (0.580) is lower than the SPE paper's (0.803); we did not investigate why</a:t>
            </a:r>
            <a:endParaRPr lang="en-US" sz="1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4415" cy="731520"/>
          </a:xfrm>
          <a:prstGeom prst="rect">
            <a:avLst/>
          </a:prstGeom>
          <a:noFill/>
          <a:ln/>
        </p:spPr>
        <p:txBody>
          <a:bodyPr wrap="square" lIns="0" tIns="0" rIns="0" bIns="0" rtlCol="0" anchor="ctr"/>
          <a:lstStyle/>
          <a:p>
            <a:pPr marL="0" indent="0">
              <a:buNone/>
            </a:pPr>
            <a:r>
              <a:rPr lang="en-US" sz="3200" b="1" dirty="0">
                <a:solidFill>
                  <a:srgbClr val="1F3A5F"/>
                </a:solidFill>
                <a:latin typeface="Arial" pitchFamily="34" charset="0"/>
                <a:ea typeface="Arial" pitchFamily="34" charset="-122"/>
                <a:cs typeface="Arial" pitchFamily="34" charset="-120"/>
              </a:rPr>
              <a:t>Implementation overview</a:t>
            </a:r>
            <a:endParaRPr lang="en-US" sz="3200" dirty="0"/>
          </a:p>
        </p:txBody>
      </p:sp>
      <p:sp>
        <p:nvSpPr>
          <p:cNvPr id="3" name="Shape 1"/>
          <p:cNvSpPr/>
          <p:nvPr/>
        </p:nvSpPr>
        <p:spPr>
          <a:xfrm>
            <a:off x="548640" y="6355080"/>
            <a:ext cx="11094415" cy="0"/>
          </a:xfrm>
          <a:prstGeom prst="line">
            <a:avLst/>
          </a:prstGeom>
          <a:noFill/>
          <a:ln w="9525">
            <a:solidFill>
              <a:srgbClr val="E3E6EA"/>
            </a:solidFill>
            <a:prstDash val="solid"/>
          </a:ln>
        </p:spPr>
      </p:sp>
      <p:sp>
        <p:nvSpPr>
          <p:cNvPr id="4" name="Text 2"/>
          <p:cNvSpPr/>
          <p:nvPr/>
        </p:nvSpPr>
        <p:spPr>
          <a:xfrm>
            <a:off x="548640" y="6400800"/>
            <a:ext cx="7315200" cy="274320"/>
          </a:xfrm>
          <a:prstGeom prst="rect">
            <a:avLst/>
          </a:prstGeom>
          <a:noFill/>
          <a:ln/>
        </p:spPr>
        <p:txBody>
          <a:bodyPr wrap="square" lIns="0" tIns="0" rIns="0" bIns="0" rtlCol="0" anchor="ctr"/>
          <a:lstStyle/>
          <a:p>
            <a:pPr marL="0" indent="0">
              <a:buNone/>
            </a:pPr>
            <a:r>
              <a:rPr lang="en-US" sz="1100" dirty="0">
                <a:solidFill>
                  <a:srgbClr val="5F6670"/>
                </a:solidFill>
                <a:latin typeface="Arial" pitchFamily="34" charset="0"/>
                <a:ea typeface="Arial" pitchFamily="34" charset="-122"/>
                <a:cs typeface="Arial" pitchFamily="34" charset="-120"/>
              </a:rPr>
              <a:t>DA 3011L · Uncertainty-Aware Self-Paced Ensemble</a:t>
            </a:r>
            <a:endParaRPr lang="en-US" sz="1100" dirty="0"/>
          </a:p>
        </p:txBody>
      </p:sp>
      <p:sp>
        <p:nvSpPr>
          <p:cNvPr id="5" name="Text 3"/>
          <p:cNvSpPr/>
          <p:nvPr/>
        </p:nvSpPr>
        <p:spPr>
          <a:xfrm>
            <a:off x="10728655" y="6400800"/>
            <a:ext cx="914400" cy="274320"/>
          </a:xfrm>
          <a:prstGeom prst="rect">
            <a:avLst/>
          </a:prstGeom>
          <a:noFill/>
          <a:ln/>
        </p:spPr>
        <p:txBody>
          <a:bodyPr wrap="square" lIns="0" tIns="0" rIns="0" bIns="0" rtlCol="0" anchor="ctr"/>
          <a:lstStyle/>
          <a:p>
            <a:pPr marL="0" indent="0" algn="r">
              <a:buNone/>
            </a:pPr>
            <a:r>
              <a:rPr lang="en-US" sz="1100" dirty="0">
                <a:solidFill>
                  <a:srgbClr val="5F6670"/>
                </a:solidFill>
                <a:latin typeface="Arial" pitchFamily="34" charset="0"/>
                <a:ea typeface="Arial" pitchFamily="34" charset="-122"/>
                <a:cs typeface="Arial" pitchFamily="34" charset="-120"/>
              </a:rPr>
              <a:t>13</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4846320" cy="3952240"/>
        </p:xfrm>
        <a:graphic>
          <a:graphicData uri="http://schemas.openxmlformats.org/drawingml/2006/table">
            <a:tbl>
              <a:tblPr/>
              <a:tblGrid>
                <a:gridCol w="201168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tblGrid>
              <a:tr h="457200">
                <a:tc>
                  <a:txBody>
                    <a:bodyPr/>
                    <a:lstStyle/>
                    <a:p>
                      <a:pPr marL="0" indent="0" algn="l">
                        <a:buNone/>
                      </a:pPr>
                      <a:r>
                        <a:rPr lang="en-US" sz="1400" b="1" dirty="0">
                          <a:solidFill>
                            <a:srgbClr val="1F3A5F"/>
                          </a:solidFill>
                          <a:latin typeface="Arial" pitchFamily="34" charset="0"/>
                          <a:ea typeface="Arial" pitchFamily="34" charset="-122"/>
                          <a:cs typeface="Arial" pitchFamily="34" charset="-120"/>
                        </a:rPr>
                        <a:t>File</a:t>
                      </a:r>
                      <a:endParaRPr lang="en-US" sz="1400" dirty="0">
                        <a:latin typeface="Arial" charset="0"/>
                        <a:ea typeface="Arial" charset="0"/>
                        <a:cs typeface="Arial"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F3A5F"/>
                      </a:solidFill>
                      <a:prstDash val="solid"/>
                      <a:round/>
                      <a:headEnd type="none" w="med" len="med"/>
                      <a:tailEnd type="none" w="med" len="med"/>
                    </a:lnB>
                    <a:solidFill>
                      <a:srgbClr val="FFFFFF"/>
                    </a:solidFill>
                  </a:tcPr>
                </a:tc>
                <a:tc>
                  <a:txBody>
                    <a:bodyPr/>
                    <a:lstStyle/>
                    <a:p>
                      <a:pPr marL="0" indent="0" algn="l">
                        <a:buNone/>
                      </a:pPr>
                      <a:r>
                        <a:rPr lang="en-US" sz="1400" b="1" dirty="0">
                          <a:solidFill>
                            <a:srgbClr val="1F3A5F"/>
                          </a:solidFill>
                          <a:latin typeface="Arial" pitchFamily="34" charset="0"/>
                          <a:ea typeface="Arial" pitchFamily="34" charset="-122"/>
                          <a:cs typeface="Arial" pitchFamily="34" charset="-120"/>
                        </a:rPr>
                        <a:t>Role</a:t>
                      </a:r>
                      <a:endParaRPr lang="en-US" sz="1400" dirty="0">
                        <a:latin typeface="Arial" charset="0"/>
                        <a:ea typeface="Arial" charset="0"/>
                        <a:cs typeface="Arial"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F3A5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57200">
                <a:tc>
                  <a:txBody>
                    <a:bodyPr/>
                    <a:lstStyle/>
                    <a:p>
                      <a:pPr marL="0" indent="0" algn="l">
                        <a:buNone/>
                      </a:pPr>
                      <a:r>
                        <a:rPr lang="en-US" sz="1400" dirty="0">
                          <a:solidFill>
                            <a:srgbClr val="1F2328"/>
                          </a:solidFill>
                          <a:latin typeface="Arial" pitchFamily="34" charset="0"/>
                          <a:ea typeface="Arial" pitchFamily="34" charset="-122"/>
                          <a:cs typeface="Arial" pitchFamily="34" charset="-120"/>
                        </a:rPr>
                        <a:t>uaspe/data.py</a:t>
                      </a:r>
                      <a:endParaRPr lang="en-US" sz="1400" dirty="0">
                        <a:latin typeface="Arial" charset="0"/>
                        <a:ea typeface="Arial" charset="0"/>
                        <a:cs typeface="Arial" charset="0"/>
                      </a:endParaRPr>
                    </a:p>
                  </a:txBody>
                  <a:tcPr marL="76200" marR="76200" marT="25400" marB="25400" anchor="ctr">
                    <a:lnL w="0" cap="flat" cmpd="sng" algn="ctr">
                      <a:noFill/>
                    </a:lnL>
                    <a:lnR w="0" cap="flat" cmpd="sng" algn="ctr">
                      <a:noFill/>
                    </a:lnR>
                    <a:lnT w="15875" cap="flat" cmpd="sng" algn="ctr">
                      <a:solidFill>
                        <a:srgbClr val="1F3A5F"/>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F2328"/>
                          </a:solidFill>
                          <a:latin typeface="Arial" pitchFamily="34" charset="0"/>
                          <a:ea typeface="Arial" pitchFamily="34" charset="-122"/>
                          <a:cs typeface="Arial" pitchFamily="34" charset="-120"/>
                        </a:rPr>
                        <a:t>Load data, remove duplicates, stratified split</a:t>
                      </a:r>
                      <a:endParaRPr lang="en-US" sz="1400" dirty="0">
                        <a:latin typeface="Arial" charset="0"/>
                        <a:ea typeface="Arial" charset="0"/>
                        <a:cs typeface="Arial" charset="0"/>
                      </a:endParaRPr>
                    </a:p>
                  </a:txBody>
                  <a:tcPr marL="76200" marR="76200" marT="25400" marB="25400" anchor="ctr">
                    <a:lnL w="0" cap="flat" cmpd="sng" algn="ctr">
                      <a:noFill/>
                    </a:lnL>
                    <a:lnR w="0" cap="flat" cmpd="sng" algn="ctr">
                      <a:noFill/>
                    </a:lnR>
                    <a:lnT w="15875" cap="flat" cmpd="sng" algn="ctr">
                      <a:solidFill>
                        <a:srgbClr val="1F3A5F"/>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400" dirty="0">
                          <a:solidFill>
                            <a:srgbClr val="1F2328"/>
                          </a:solidFill>
                          <a:latin typeface="Arial" pitchFamily="34" charset="0"/>
                          <a:ea typeface="Arial" pitchFamily="34" charset="-122"/>
                          <a:cs typeface="Arial" pitchFamily="34" charset="-120"/>
                        </a:rPr>
                        <a:t>uaspe/spe.py</a:t>
                      </a:r>
                      <a:endParaRPr lang="en-US" sz="14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F2328"/>
                          </a:solidFill>
                          <a:latin typeface="Arial" pitchFamily="34" charset="0"/>
                          <a:ea typeface="Arial" pitchFamily="34" charset="-122"/>
                          <a:cs typeface="Arial" pitchFamily="34" charset="-120"/>
                        </a:rPr>
                        <a:t>Hardness bins, weights, allocation, Ũ, SPE / UA-SPE training</a:t>
                      </a:r>
                      <a:endParaRPr lang="en-US" sz="14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l">
                        <a:buNone/>
                      </a:pPr>
                      <a:r>
                        <a:rPr lang="en-US" sz="1400" dirty="0">
                          <a:solidFill>
                            <a:srgbClr val="1F2328"/>
                          </a:solidFill>
                          <a:latin typeface="Arial" pitchFamily="34" charset="0"/>
                          <a:ea typeface="Arial" pitchFamily="34" charset="-122"/>
                          <a:cs typeface="Arial" pitchFamily="34" charset="-120"/>
                        </a:rPr>
                        <a:t>uaspe/baselines.py</a:t>
                      </a:r>
                      <a:endParaRPr lang="en-US" sz="14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F2328"/>
                          </a:solidFill>
                          <a:latin typeface="Arial" pitchFamily="34" charset="0"/>
                          <a:ea typeface="Arial" pitchFamily="34" charset="-122"/>
                          <a:cs typeface="Arial" pitchFamily="34" charset="-120"/>
                        </a:rPr>
                        <a:t>Plain, RUS, ROS, SMOTE, class-weighted</a:t>
                      </a:r>
                      <a:endParaRPr lang="en-US" sz="14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400" dirty="0">
                          <a:solidFill>
                            <a:srgbClr val="1F2328"/>
                          </a:solidFill>
                          <a:latin typeface="Arial" pitchFamily="34" charset="0"/>
                          <a:ea typeface="Arial" pitchFamily="34" charset="-122"/>
                          <a:cs typeface="Arial" pitchFamily="34" charset="-120"/>
                        </a:rPr>
                        <a:t>uaspe/metrics.py</a:t>
                      </a:r>
                      <a:endParaRPr lang="en-US" sz="14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F2328"/>
                          </a:solidFill>
                          <a:latin typeface="Arial" pitchFamily="34" charset="0"/>
                          <a:ea typeface="Arial" pitchFamily="34" charset="-122"/>
                          <a:cs typeface="Arial" pitchFamily="34" charset="-120"/>
                        </a:rPr>
                        <a:t>AP, G-mean, confusion counts</a:t>
                      </a:r>
                      <a:endParaRPr lang="en-US" sz="14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lgn="l">
                        <a:buNone/>
                      </a:pPr>
                      <a:r>
                        <a:rPr lang="en-US" sz="1400" dirty="0">
                          <a:solidFill>
                            <a:srgbClr val="1F2328"/>
                          </a:solidFill>
                          <a:latin typeface="Arial" pitchFamily="34" charset="0"/>
                          <a:ea typeface="Arial" pitchFamily="34" charset="-122"/>
                          <a:cs typeface="Arial" pitchFamily="34" charset="-120"/>
                        </a:rPr>
                        <a:t>run_experiment.py</a:t>
                      </a:r>
                      <a:endParaRPr lang="en-US" sz="14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F2328"/>
                          </a:solidFill>
                          <a:latin typeface="Arial" pitchFamily="34" charset="0"/>
                          <a:ea typeface="Arial" pitchFamily="34" charset="-122"/>
                          <a:cs typeface="Arial" pitchFamily="34" charset="-120"/>
                        </a:rPr>
                        <a:t>Runs all 55 runs, saves results</a:t>
                      </a:r>
                      <a:endParaRPr lang="en-US" sz="14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l">
                        <a:buNone/>
                      </a:pPr>
                      <a:r>
                        <a:rPr lang="en-US" sz="1400" dirty="0">
                          <a:solidFill>
                            <a:srgbClr val="1F2328"/>
                          </a:solidFill>
                          <a:latin typeface="Arial" pitchFamily="34" charset="0"/>
                          <a:ea typeface="Arial" pitchFamily="34" charset="-122"/>
                          <a:cs typeface="Arial" pitchFamily="34" charset="-120"/>
                        </a:rPr>
                        <a:t>analyze_results.py</a:t>
                      </a:r>
                      <a:endParaRPr lang="en-US" sz="14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F2328"/>
                          </a:solidFill>
                          <a:latin typeface="Arial" pitchFamily="34" charset="0"/>
                          <a:ea typeface="Arial" pitchFamily="34" charset="-122"/>
                          <a:cs typeface="Arial" pitchFamily="34" charset="-120"/>
                        </a:rPr>
                        <a:t>Paired differences, bootstrap, figures</a:t>
                      </a:r>
                      <a:endParaRPr lang="en-US" sz="14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57200">
                <a:tc>
                  <a:txBody>
                    <a:bodyPr/>
                    <a:lstStyle/>
                    <a:p>
                      <a:pPr marL="0" indent="0" algn="l">
                        <a:buNone/>
                      </a:pPr>
                      <a:r>
                        <a:rPr lang="en-US" sz="1400" dirty="0">
                          <a:solidFill>
                            <a:srgbClr val="1F2328"/>
                          </a:solidFill>
                          <a:latin typeface="Arial" pitchFamily="34" charset="0"/>
                          <a:ea typeface="Arial" pitchFamily="34" charset="-122"/>
                          <a:cs typeface="Arial" pitchFamily="34" charset="-120"/>
                        </a:rPr>
                        <a:t>tests/</a:t>
                      </a:r>
                      <a:endParaRPr lang="en-US" sz="14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F2328"/>
                          </a:solidFill>
                          <a:latin typeface="Arial" pitchFamily="34" charset="0"/>
                          <a:ea typeface="Arial" pitchFamily="34" charset="-122"/>
                          <a:cs typeface="Arial" pitchFamily="34" charset="-120"/>
                        </a:rPr>
                        <a:t>52 unit and integration tests</a:t>
                      </a:r>
                      <a:endParaRPr lang="en-US" sz="1400" dirty="0">
                        <a:latin typeface="Arial" charset="0"/>
                        <a:ea typeface="Arial" charset="0"/>
                        <a:cs typeface="Arial" charset="0"/>
                      </a:endParaRPr>
                    </a:p>
                  </a:txBody>
                  <a:tcPr marL="76200" marR="76200" marT="25400" marB="25400" anchor="ctr">
                    <a:lnL w="0" cap="flat" cmpd="sng" algn="ctr">
                      <a:noFill/>
                    </a:lnL>
                    <a:lnR w="0" cap="flat" cmpd="sng" algn="ctr">
                      <a:noFill/>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8" name="Shape 4"/>
          <p:cNvSpPr/>
          <p:nvPr/>
        </p:nvSpPr>
        <p:spPr>
          <a:xfrm>
            <a:off x="5623560" y="1280160"/>
            <a:ext cx="6016752" cy="4892040"/>
          </a:xfrm>
          <a:prstGeom prst="rect">
            <a:avLst/>
          </a:prstGeom>
          <a:solidFill>
            <a:srgbClr val="F6F7F9"/>
          </a:solidFill>
          <a:ln w="12700">
            <a:solidFill>
              <a:srgbClr val="E3E6EA"/>
            </a:solidFill>
            <a:prstDash val="solid"/>
          </a:ln>
        </p:spPr>
      </p:sp>
      <p:sp>
        <p:nvSpPr>
          <p:cNvPr id="9" name="Text 5"/>
          <p:cNvSpPr/>
          <p:nvPr/>
        </p:nvSpPr>
        <p:spPr>
          <a:xfrm>
            <a:off x="5760720" y="1371600"/>
            <a:ext cx="5760720" cy="4206240"/>
          </a:xfrm>
          <a:prstGeom prst="rect">
            <a:avLst/>
          </a:prstGeom>
          <a:noFill/>
          <a:ln/>
        </p:spPr>
        <p:txBody>
          <a:bodyPr wrap="square" lIns="0" tIns="0" rIns="0" bIns="0" rtlCol="0" anchor="t"/>
          <a:lstStyle/>
          <a:p>
            <a:pPr marL="0" indent="0">
              <a:buNone/>
            </a:pPr>
            <a:r>
              <a:rPr lang="en-US" sz="1300" dirty="0">
                <a:solidFill>
                  <a:srgbClr val="1F2328"/>
                </a:solidFill>
                <a:latin typeface="Courier New" pitchFamily="34" charset="0"/>
                <a:ea typeface="Courier New" pitchFamily="34" charset="-122"/>
                <a:cs typeface="Courier New" pitchFamily="34" charset="-120"/>
              </a:rPr>
              <a:t>def within_bin_weights(normalized_uncertainty, gamma):</a:t>
            </a:r>
            <a:endParaRPr lang="en-US" sz="1300" dirty="0"/>
          </a:p>
          <a:p>
            <a:pPr marL="0" indent="0">
              <a:buNone/>
            </a:pPr>
            <a:r>
              <a:rPr lang="en-US" sz="1300" dirty="0">
                <a:solidFill>
                  <a:srgbClr val="1F2328"/>
                </a:solidFill>
                <a:latin typeface="Courier New" pitchFamily="34" charset="0"/>
                <a:ea typeface="Courier New" pitchFamily="34" charset="-122"/>
                <a:cs typeface="Courier New" pitchFamily="34" charset="-120"/>
              </a:rPr>
              <a:t>    """U~^gamma. gamma = 0 returns None so the caller</a:t>
            </a:r>
            <a:endParaRPr lang="en-US" sz="1300" dirty="0"/>
          </a:p>
          <a:p>
            <a:pPr marL="0" indent="0">
              <a:buNone/>
            </a:pPr>
            <a:r>
              <a:rPr lang="en-US" sz="1300" dirty="0">
                <a:solidFill>
                  <a:srgbClr val="1F2328"/>
                </a:solidFill>
                <a:latin typeface="Courier New" pitchFamily="34" charset="0"/>
                <a:ea typeface="Courier New" pitchFamily="34" charset="-122"/>
                <a:cs typeface="Courier New" pitchFamily="34" charset="-120"/>
              </a:rPr>
              <a:t>    samples uniformly, exactly as SPE."""</a:t>
            </a:r>
            <a:endParaRPr lang="en-US" sz="1300" dirty="0"/>
          </a:p>
          <a:p>
            <a:pPr marL="0" indent="0">
              <a:buNone/>
            </a:pPr>
            <a:r>
              <a:rPr lang="en-US" sz="1300" dirty="0">
                <a:solidFill>
                  <a:srgbClr val="1F2328"/>
                </a:solidFill>
                <a:latin typeface="Courier New" pitchFamily="34" charset="0"/>
                <a:ea typeface="Courier New" pitchFamily="34" charset="-122"/>
                <a:cs typeface="Courier New" pitchFamily="34" charset="-120"/>
              </a:rPr>
              <a:t>    if gamma == 0:</a:t>
            </a:r>
            <a:endParaRPr lang="en-US" sz="1300" dirty="0"/>
          </a:p>
          <a:p>
            <a:pPr marL="0" indent="0">
              <a:buNone/>
            </a:pPr>
            <a:r>
              <a:rPr lang="en-US" sz="1300" dirty="0">
                <a:solidFill>
                  <a:srgbClr val="1F2328"/>
                </a:solidFill>
                <a:latin typeface="Courier New" pitchFamily="34" charset="0"/>
                <a:ea typeface="Courier New" pitchFamily="34" charset="-122"/>
                <a:cs typeface="Courier New" pitchFamily="34" charset="-120"/>
              </a:rPr>
              <a:t>        return None</a:t>
            </a:r>
            <a:endParaRPr lang="en-US" sz="1300" dirty="0"/>
          </a:p>
          <a:p>
            <a:pPr marL="0" indent="0">
              <a:buNone/>
            </a:pPr>
            <a:r>
              <a:rPr lang="en-US" sz="1300" dirty="0">
                <a:solidFill>
                  <a:srgbClr val="1F2328"/>
                </a:solidFill>
                <a:latin typeface="Courier New" pitchFamily="34" charset="0"/>
                <a:ea typeface="Courier New" pitchFamily="34" charset="-122"/>
                <a:cs typeface="Courier New" pitchFamily="34" charset="-120"/>
              </a:rPr>
              <a:t>    return np.asarray(normalized_uncertainty,</a:t>
            </a:r>
            <a:endParaRPr lang="en-US" sz="1300" dirty="0"/>
          </a:p>
          <a:p>
            <a:pPr marL="0" indent="0">
              <a:buNone/>
            </a:pPr>
            <a:r>
              <a:rPr lang="en-US" sz="1300" dirty="0">
                <a:solidFill>
                  <a:srgbClr val="1F2328"/>
                </a:solidFill>
                <a:latin typeface="Courier New" pitchFamily="34" charset="0"/>
                <a:ea typeface="Courier New" pitchFamily="34" charset="-122"/>
                <a:cs typeface="Courier New" pitchFamily="34" charset="-120"/>
              </a:rPr>
              <a:t>                      dtype=float) ** gamma</a:t>
            </a:r>
            <a:endParaRPr lang="en-US" sz="1300" dirty="0"/>
          </a:p>
          <a:p>
            <a:pPr marL="0" indent="0">
              <a:buNone/>
            </a:pPr>
            <a:endParaRPr lang="en-US" sz="1300" dirty="0"/>
          </a:p>
          <a:p>
            <a:pPr marL="0" indent="0">
              <a:buNone/>
            </a:pPr>
            <a:r>
              <a:rPr lang="en-US" sz="1300" dirty="0">
                <a:solidFill>
                  <a:srgbClr val="1F2328"/>
                </a:solidFill>
                <a:latin typeface="Courier New" pitchFamily="34" charset="0"/>
                <a:ea typeface="Courier New" pitchFamily="34" charset="-122"/>
                <a:cs typeface="Courier New" pitchFamily="34" charset="-120"/>
              </a:rPr>
              <a:t># Step 8: choose rows inside each bin.</a:t>
            </a:r>
            <a:endParaRPr lang="en-US" sz="1300" dirty="0"/>
          </a:p>
          <a:p>
            <a:pPr marL="0" indent="0">
              <a:buNone/>
            </a:pPr>
            <a:r>
              <a:rPr lang="en-US" sz="1300" dirty="0">
                <a:solidFill>
                  <a:srgbClr val="1F2328"/>
                </a:solidFill>
                <a:latin typeface="Courier New" pitchFamily="34" charset="0"/>
                <a:ea typeface="Courier New" pitchFamily="34" charset="-122"/>
                <a:cs typeface="Courier New" pitchFamily="34" charset="-120"/>
              </a:rPr>
              <a:t>u_tilde = None if gamma is None else \</a:t>
            </a:r>
            <a:endParaRPr lang="en-US" sz="1300" dirty="0"/>
          </a:p>
          <a:p>
            <a:pPr marL="0" indent="0">
              <a:buNone/>
            </a:pPr>
            <a:r>
              <a:rPr lang="en-US" sz="1300" dirty="0">
                <a:solidFill>
                  <a:srgbClr val="1F2328"/>
                </a:solidFill>
                <a:latin typeface="Courier New" pitchFamily="34" charset="0"/>
                <a:ea typeface="Courier New" pitchFamily="34" charset="-122"/>
                <a:cs typeface="Courier New" pitchFamily="34" charset="-120"/>
              </a:rPr>
              <a:t>    normalized_uncertainty(history)</a:t>
            </a:r>
            <a:endParaRPr lang="en-US" sz="1300" dirty="0"/>
          </a:p>
          <a:p>
            <a:pPr marL="0" indent="0">
              <a:buNone/>
            </a:pPr>
            <a:r>
              <a:rPr lang="en-US" sz="1300" dirty="0">
                <a:solidFill>
                  <a:srgbClr val="1F2328"/>
                </a:solidFill>
                <a:latin typeface="Courier New" pitchFamily="34" charset="0"/>
                <a:ea typeface="Courier New" pitchFamily="34" charset="-122"/>
                <a:cs typeface="Courier New" pitchFamily="34" charset="-120"/>
              </a:rPr>
              <a:t>chosen = []</a:t>
            </a:r>
            <a:endParaRPr lang="en-US" sz="1300" dirty="0"/>
          </a:p>
          <a:p>
            <a:pPr marL="0" indent="0">
              <a:buNone/>
            </a:pPr>
            <a:r>
              <a:rPr lang="en-US" sz="1300" dirty="0">
                <a:solidFill>
                  <a:srgbClr val="1F2328"/>
                </a:solidFill>
                <a:latin typeface="Courier New" pitchFamily="34" charset="0"/>
                <a:ea typeface="Courier New" pitchFamily="34" charset="-122"/>
                <a:cs typeface="Courier New" pitchFamily="34" charset="-120"/>
              </a:rPr>
              <a:t>for l in range(k):</a:t>
            </a:r>
            <a:endParaRPr lang="en-US" sz="1300" dirty="0"/>
          </a:p>
          <a:p>
            <a:pPr marL="0" indent="0">
              <a:buNone/>
            </a:pPr>
            <a:r>
              <a:rPr lang="en-US" sz="1300" dirty="0">
                <a:solidFill>
                  <a:srgbClr val="1F2328"/>
                </a:solidFill>
                <a:latin typeface="Courier New" pitchFamily="34" charset="0"/>
                <a:ea typeface="Courier New" pitchFamily="34" charset="-122"/>
                <a:cs typeface="Courier New" pitchFamily="34" charset="-120"/>
              </a:rPr>
              <a:t>    if allocation[l] == 0:</a:t>
            </a:r>
            <a:endParaRPr lang="en-US" sz="1300" dirty="0"/>
          </a:p>
          <a:p>
            <a:pPr marL="0" indent="0">
              <a:buNone/>
            </a:pPr>
            <a:r>
              <a:rPr lang="en-US" sz="1300" dirty="0">
                <a:solidFill>
                  <a:srgbClr val="1F2328"/>
                </a:solidFill>
                <a:latin typeface="Courier New" pitchFamily="34" charset="0"/>
                <a:ea typeface="Courier New" pitchFamily="34" charset="-122"/>
                <a:cs typeface="Courier New" pitchFamily="34" charset="-120"/>
              </a:rPr>
              <a:t>        continue</a:t>
            </a:r>
            <a:endParaRPr lang="en-US" sz="1300" dirty="0"/>
          </a:p>
          <a:p>
            <a:pPr marL="0" indent="0">
              <a:buNone/>
            </a:pPr>
            <a:r>
              <a:rPr lang="en-US" sz="1300" dirty="0">
                <a:solidFill>
                  <a:srgbClr val="1F2328"/>
                </a:solidFill>
                <a:latin typeface="Courier New" pitchFamily="34" charset="0"/>
                <a:ea typeface="Courier New" pitchFamily="34" charset="-122"/>
                <a:cs typeface="Courier New" pitchFamily="34" charset="-120"/>
              </a:rPr>
              <a:t>    in_bin = np.flatnonzero(bins == l)</a:t>
            </a:r>
            <a:endParaRPr lang="en-US" sz="1300" dirty="0"/>
          </a:p>
          <a:p>
            <a:pPr marL="0" indent="0">
              <a:buNone/>
            </a:pPr>
            <a:r>
              <a:rPr lang="en-US" sz="1300" dirty="0">
                <a:solidFill>
                  <a:srgbClr val="1F2328"/>
                </a:solidFill>
                <a:latin typeface="Courier New" pitchFamily="34" charset="0"/>
                <a:ea typeface="Courier New" pitchFamily="34" charset="-122"/>
                <a:cs typeface="Courier New" pitchFamily="34" charset="-120"/>
              </a:rPr>
              <a:t>    row_weights = None if gamma is None else \</a:t>
            </a:r>
            <a:endParaRPr lang="en-US" sz="1300" dirty="0"/>
          </a:p>
          <a:p>
            <a:pPr marL="0" indent="0">
              <a:buNone/>
            </a:pPr>
            <a:r>
              <a:rPr lang="en-US" sz="1300" dirty="0">
                <a:solidFill>
                  <a:srgbClr val="1F2328"/>
                </a:solidFill>
                <a:latin typeface="Courier New" pitchFamily="34" charset="0"/>
                <a:ea typeface="Courier New" pitchFamily="34" charset="-122"/>
                <a:cs typeface="Courier New" pitchFamily="34" charset="-120"/>
              </a:rPr>
              <a:t>        within_bin_weights(u_tilde[in_bin], gamma)</a:t>
            </a:r>
            <a:endParaRPr lang="en-US" sz="1300" dirty="0"/>
          </a:p>
          <a:p>
            <a:pPr marL="0" indent="0">
              <a:buNone/>
            </a:pPr>
            <a:r>
              <a:rPr lang="en-US" sz="1300" dirty="0">
                <a:solidFill>
                  <a:srgbClr val="1F2328"/>
                </a:solidFill>
                <a:latin typeface="Courier New" pitchFamily="34" charset="0"/>
                <a:ea typeface="Courier New" pitchFamily="34" charset="-122"/>
                <a:cs typeface="Courier New" pitchFamily="34" charset="-120"/>
              </a:rPr>
              <a:t>    chosen.append(select_within_bin(</a:t>
            </a:r>
            <a:endParaRPr lang="en-US" sz="1300" dirty="0"/>
          </a:p>
          <a:p>
            <a:pPr marL="0" indent="0">
              <a:buNone/>
            </a:pPr>
            <a:r>
              <a:rPr lang="en-US" sz="1300" dirty="0">
                <a:solidFill>
                  <a:srgbClr val="1F2328"/>
                </a:solidFill>
                <a:latin typeface="Courier New" pitchFamily="34" charset="0"/>
                <a:ea typeface="Courier New" pitchFamily="34" charset="-122"/>
                <a:cs typeface="Courier New" pitchFamily="34" charset="-120"/>
              </a:rPr>
              <a:t>        in_bin, allocation[l], rng, row_weights))</a:t>
            </a:r>
            <a:endParaRPr lang="en-US" sz="1300" dirty="0"/>
          </a:p>
        </p:txBody>
      </p:sp>
      <p:sp>
        <p:nvSpPr>
          <p:cNvPr id="10" name="Text 6"/>
          <p:cNvSpPr/>
          <p:nvPr/>
        </p:nvSpPr>
        <p:spPr>
          <a:xfrm>
            <a:off x="5760720" y="5623560"/>
            <a:ext cx="5760720" cy="457200"/>
          </a:xfrm>
          <a:prstGeom prst="rect">
            <a:avLst/>
          </a:prstGeom>
          <a:noFill/>
          <a:ln/>
        </p:spPr>
        <p:txBody>
          <a:bodyPr wrap="square" lIns="0" tIns="0" rIns="0" bIns="0" rtlCol="0" anchor="t"/>
          <a:lstStyle/>
          <a:p>
            <a:pPr marL="0" indent="0">
              <a:buNone/>
            </a:pPr>
            <a:r>
              <a:rPr lang="en-US" sz="1200" dirty="0">
                <a:solidFill>
                  <a:srgbClr val="5F6670"/>
                </a:solidFill>
                <a:latin typeface="Arial" pitchFamily="34" charset="0"/>
                <a:ea typeface="Arial" pitchFamily="34" charset="-122"/>
                <a:cs typeface="Arial" pitchFamily="34" charset="-120"/>
              </a:rPr>
              <a:t>Excerpt from uaspe/spe.py; long lines wrapped and the loop shown without its outer indentation.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4415" cy="731520"/>
          </a:xfrm>
          <a:prstGeom prst="rect">
            <a:avLst/>
          </a:prstGeom>
          <a:noFill/>
          <a:ln/>
        </p:spPr>
        <p:txBody>
          <a:bodyPr wrap="square" lIns="0" tIns="0" rIns="0" bIns="0" rtlCol="0" anchor="ctr"/>
          <a:lstStyle/>
          <a:p>
            <a:pPr marL="0" indent="0">
              <a:buNone/>
            </a:pPr>
            <a:r>
              <a:rPr lang="en-US" sz="3200" b="1" dirty="0">
                <a:solidFill>
                  <a:srgbClr val="1F3A5F"/>
                </a:solidFill>
                <a:latin typeface="Arial" pitchFamily="34" charset="0"/>
                <a:ea typeface="Arial" pitchFamily="34" charset="-122"/>
                <a:cs typeface="Arial" pitchFamily="34" charset="-120"/>
              </a:rPr>
              <a:t>References</a:t>
            </a:r>
            <a:endParaRPr lang="en-US" sz="3200" dirty="0"/>
          </a:p>
        </p:txBody>
      </p:sp>
      <p:sp>
        <p:nvSpPr>
          <p:cNvPr id="3" name="Shape 1"/>
          <p:cNvSpPr/>
          <p:nvPr/>
        </p:nvSpPr>
        <p:spPr>
          <a:xfrm>
            <a:off x="548640" y="6355080"/>
            <a:ext cx="11094415" cy="0"/>
          </a:xfrm>
          <a:prstGeom prst="line">
            <a:avLst/>
          </a:prstGeom>
          <a:noFill/>
          <a:ln w="9525">
            <a:solidFill>
              <a:srgbClr val="E3E6EA"/>
            </a:solidFill>
            <a:prstDash val="solid"/>
          </a:ln>
        </p:spPr>
      </p:sp>
      <p:sp>
        <p:nvSpPr>
          <p:cNvPr id="4" name="Text 2"/>
          <p:cNvSpPr/>
          <p:nvPr/>
        </p:nvSpPr>
        <p:spPr>
          <a:xfrm>
            <a:off x="548640" y="6400800"/>
            <a:ext cx="7315200" cy="274320"/>
          </a:xfrm>
          <a:prstGeom prst="rect">
            <a:avLst/>
          </a:prstGeom>
          <a:noFill/>
          <a:ln/>
        </p:spPr>
        <p:txBody>
          <a:bodyPr wrap="square" lIns="0" tIns="0" rIns="0" bIns="0" rtlCol="0" anchor="ctr"/>
          <a:lstStyle/>
          <a:p>
            <a:pPr marL="0" indent="0">
              <a:buNone/>
            </a:pPr>
            <a:r>
              <a:rPr lang="en-US" sz="1100" dirty="0">
                <a:solidFill>
                  <a:srgbClr val="5F6670"/>
                </a:solidFill>
                <a:latin typeface="Arial" pitchFamily="34" charset="0"/>
                <a:ea typeface="Arial" pitchFamily="34" charset="-122"/>
                <a:cs typeface="Arial" pitchFamily="34" charset="-120"/>
              </a:rPr>
              <a:t>DA 3011L · Uncertainty-Aware Self-Paced Ensemble</a:t>
            </a:r>
            <a:endParaRPr lang="en-US" sz="1100" dirty="0"/>
          </a:p>
        </p:txBody>
      </p:sp>
      <p:sp>
        <p:nvSpPr>
          <p:cNvPr id="5" name="Text 3"/>
          <p:cNvSpPr/>
          <p:nvPr/>
        </p:nvSpPr>
        <p:spPr>
          <a:xfrm>
            <a:off x="10728655" y="6400800"/>
            <a:ext cx="914400" cy="274320"/>
          </a:xfrm>
          <a:prstGeom prst="rect">
            <a:avLst/>
          </a:prstGeom>
          <a:noFill/>
          <a:ln/>
        </p:spPr>
        <p:txBody>
          <a:bodyPr wrap="square" lIns="0" tIns="0" rIns="0" bIns="0" rtlCol="0" anchor="ctr"/>
          <a:lstStyle/>
          <a:p>
            <a:pPr marL="0" indent="0" algn="r">
              <a:buNone/>
            </a:pPr>
            <a:r>
              <a:rPr lang="en-US" sz="1100" dirty="0">
                <a:solidFill>
                  <a:srgbClr val="5F6670"/>
                </a:solidFill>
                <a:latin typeface="Arial" pitchFamily="34" charset="0"/>
                <a:ea typeface="Arial" pitchFamily="34" charset="-122"/>
                <a:cs typeface="Arial" pitchFamily="34" charset="-120"/>
              </a:rPr>
              <a:t>14</a:t>
            </a:r>
            <a:endParaRPr lang="en-US" sz="1100" dirty="0"/>
          </a:p>
        </p:txBody>
      </p:sp>
      <p:sp>
        <p:nvSpPr>
          <p:cNvPr id="7" name="Text 4"/>
          <p:cNvSpPr/>
          <p:nvPr/>
        </p:nvSpPr>
        <p:spPr>
          <a:xfrm>
            <a:off x="548640" y="1325880"/>
            <a:ext cx="11094415" cy="4846320"/>
          </a:xfrm>
          <a:prstGeom prst="rect">
            <a:avLst/>
          </a:prstGeom>
          <a:noFill/>
          <a:ln/>
        </p:spPr>
        <p:txBody>
          <a:bodyPr wrap="square" lIns="0" tIns="0" rIns="0" bIns="0" rtlCol="0" anchor="t"/>
          <a:lstStyle/>
          <a:p>
            <a:pPr marL="342900" indent="-342900">
              <a:spcAft>
                <a:spcPts val="1200"/>
              </a:spcAft>
              <a:buSzPct val="100000"/>
              <a:buFont typeface="+mj-lt"/>
              <a:buAutoNum type="arabicPeriod"/>
            </a:pPr>
            <a:r>
              <a:rPr lang="en-US" sz="1700" dirty="0">
                <a:solidFill>
                  <a:srgbClr val="1F2328"/>
                </a:solidFill>
                <a:latin typeface="Arial" pitchFamily="34" charset="0"/>
                <a:ea typeface="Arial" pitchFamily="34" charset="-122"/>
                <a:cs typeface="Arial" pitchFamily="34" charset="-120"/>
              </a:rPr>
              <a:t>Z. Liu, W. Cao, Z. Gao, J. Bian, H. Chen, Y. Chang, T.-Y. Liu. Self-paced Ensemble for Highly Imbalanced Massive Data Classification. ICDE 2020, pp. 841–852.</a:t>
            </a:r>
            <a:endParaRPr lang="en-US" sz="1700" dirty="0"/>
          </a:p>
          <a:p>
            <a:pPr marL="342900" indent="-342900">
              <a:spcAft>
                <a:spcPts val="1200"/>
              </a:spcAft>
              <a:buSzPct val="100000"/>
              <a:buFont typeface="+mj-lt"/>
              <a:buAutoNum type="arabicPeriod"/>
            </a:pPr>
            <a:r>
              <a:rPr lang="en-US" sz="1700" dirty="0">
                <a:solidFill>
                  <a:srgbClr val="1F2328"/>
                </a:solidFill>
                <a:latin typeface="Arial" pitchFamily="34" charset="0"/>
                <a:ea typeface="Arial" pitchFamily="34" charset="-122"/>
                <a:cs typeface="Arial" pitchFamily="34" charset="-120"/>
              </a:rPr>
              <a:t>N. Seedat, J. Crabbé, I. Bica, M. van der Schaar. Data-IQ: Characterizing Subgroups with Heterogeneous Outcomes in Tabular Data. NeurIPS 2022.</a:t>
            </a:r>
            <a:endParaRPr lang="en-US" sz="1700" dirty="0"/>
          </a:p>
          <a:p>
            <a:pPr marL="342900" indent="-342900">
              <a:spcAft>
                <a:spcPts val="1200"/>
              </a:spcAft>
              <a:buSzPct val="100000"/>
              <a:buFont typeface="+mj-lt"/>
              <a:buAutoNum type="arabicPeriod"/>
            </a:pPr>
            <a:r>
              <a:rPr lang="en-US" sz="1700" dirty="0">
                <a:solidFill>
                  <a:srgbClr val="1F2328"/>
                </a:solidFill>
                <a:latin typeface="Arial" pitchFamily="34" charset="0"/>
                <a:ea typeface="Arial" pitchFamily="34" charset="-122"/>
                <a:cs typeface="Arial" pitchFamily="34" charset="-120"/>
              </a:rPr>
              <a:t>N. V. Chawla, K. W. Bowyer, L. O. Hall, W. P. Kegelmeyer. SMOTE: Synthetic Minority Over-sampling Technique. JAIR 16:321–357, 2002.</a:t>
            </a:r>
            <a:endParaRPr lang="en-US" sz="1700" dirty="0"/>
          </a:p>
          <a:p>
            <a:pPr marL="342900" indent="-342900">
              <a:spcAft>
                <a:spcPts val="1200"/>
              </a:spcAft>
              <a:buSzPct val="100000"/>
              <a:buFont typeface="+mj-lt"/>
              <a:buAutoNum type="arabicPeriod"/>
            </a:pPr>
            <a:r>
              <a:rPr lang="en-US" sz="1700" dirty="0">
                <a:solidFill>
                  <a:srgbClr val="1F2328"/>
                </a:solidFill>
                <a:latin typeface="Arial" pitchFamily="34" charset="0"/>
                <a:ea typeface="Arial" pitchFamily="34" charset="-122"/>
                <a:cs typeface="Arial" pitchFamily="34" charset="-120"/>
              </a:rPr>
              <a:t>X.-Y. Liu, J. Wu, Z.-H. Zhou. Exploratory Undersampling for Class-Imbalance Learning. IEEE TSMC-B 39(2):539–550, 2009.</a:t>
            </a:r>
            <a:endParaRPr lang="en-US" sz="1700" dirty="0"/>
          </a:p>
          <a:p>
            <a:pPr marL="342900" indent="-342900">
              <a:spcAft>
                <a:spcPts val="1200"/>
              </a:spcAft>
              <a:buSzPct val="100000"/>
              <a:buFont typeface="+mj-lt"/>
              <a:buAutoNum type="arabicPeriod"/>
            </a:pPr>
            <a:r>
              <a:rPr lang="en-US" sz="1700" dirty="0">
                <a:solidFill>
                  <a:srgbClr val="1F2328"/>
                </a:solidFill>
                <a:latin typeface="Arial" pitchFamily="34" charset="0"/>
                <a:ea typeface="Arial" pitchFamily="34" charset="-122"/>
                <a:cs typeface="Arial" pitchFamily="34" charset="-120"/>
              </a:rPr>
              <a:t>A. Dal Pozzolo, O. Caelen, R. A. Johnson, G. Bontempi. Calibrating Probability with Undersampling for Unbalanced Classification. IEEE SSCI 2015, pp. 159–166.</a:t>
            </a:r>
            <a:endParaRPr lang="en-US" sz="1700" dirty="0"/>
          </a:p>
          <a:p>
            <a:pPr marL="342900" indent="-342900">
              <a:spcAft>
                <a:spcPts val="1200"/>
              </a:spcAft>
              <a:buSzPct val="100000"/>
              <a:buFont typeface="+mj-lt"/>
              <a:buAutoNum type="arabicPeriod"/>
            </a:pPr>
            <a:r>
              <a:rPr lang="en-US" sz="1700" dirty="0">
                <a:solidFill>
                  <a:srgbClr val="1F2328"/>
                </a:solidFill>
                <a:latin typeface="Arial" pitchFamily="34" charset="0"/>
                <a:ea typeface="Arial" pitchFamily="34" charset="-122"/>
                <a:cs typeface="Arial" pitchFamily="34" charset="-120"/>
              </a:rPr>
              <a:t>F. Pedregosa et al. Scikit-learn: Machine Learning in Python. JMLR 12:2825–2830, 2011.</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3672</Words>
  <Application>Microsoft Office PowerPoint</Application>
  <PresentationFormat>Widescreen</PresentationFormat>
  <Paragraphs>291</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Uncertainty-Aware Self-Paced Ensemble for Imbalanced Classification</dc:title>
  <dc:subject>PptxGenJS Presentation</dc:subject>
  <dc:creator>Tanish Anand, Tumu Sai Seshi Kiran</dc:creator>
  <cp:lastModifiedBy>TANISH ANAND</cp:lastModifiedBy>
  <cp:revision>2</cp:revision>
  <dcterms:created xsi:type="dcterms:W3CDTF">2026-10-28T13:24:14Z</dcterms:created>
  <dcterms:modified xsi:type="dcterms:W3CDTF">2026-10-28T18:01:21Z</dcterms:modified>
</cp:coreProperties>
</file>